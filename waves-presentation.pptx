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sldIdLst>
    <p:sldId id="256" r:id="rId2"/>
    <p:sldId id="319" r:id="rId3"/>
    <p:sldId id="321" r:id="rId4"/>
    <p:sldId id="322" r:id="rId5"/>
    <p:sldId id="320" r:id="rId6"/>
    <p:sldId id="323" r:id="rId7"/>
    <p:sldId id="324" r:id="rId8"/>
    <p:sldId id="327" r:id="rId9"/>
    <p:sldId id="326" r:id="rId10"/>
    <p:sldId id="325" r:id="rId11"/>
  </p:sldIdLst>
  <p:sldSz cx="9144000" cy="6858000" type="screen4x3"/>
  <p:notesSz cx="6858000" cy="9144000"/>
  <p:embeddedFontLst>
    <p:embeddedFont>
      <p:font typeface="Imperial Sans Text" panose="020B0503020202020204"/>
      <p:regular r:id="rId13"/>
      <p:bold r:id="rId14"/>
    </p:embeddedFont>
    <p:embeddedFont>
      <p:font typeface="Imperial Sans Text Medium" panose="020B0603020202020204"/>
      <p:regular r:id="rId15"/>
    </p:embeddedFont>
    <p:embeddedFont>
      <p:font typeface="Imperial Sans Text Semibold" panose="020B0703020202020204"/>
      <p:regular r:id="rId16"/>
      <p:bold r:id="rId17"/>
    </p:embeddedFont>
  </p:embeddedFontLst>
  <p:defaultTextStyle>
    <a:defPPr>
      <a:defRPr lang="en-US"/>
    </a:defPPr>
    <a:lvl1pPr marL="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1506"/>
    <a:srgbClr val="83238B"/>
    <a:srgbClr val="0478FF"/>
    <a:srgbClr val="FBF7DC"/>
    <a:srgbClr val="F8F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61976D-34CE-C783-8241-B8E08E61888B}" v="863" dt="2026-02-03T01:19:46.168"/>
    <p1510:client id="{5BA13858-FADA-2B4B-91E4-DFDFC812DECC}" v="4543" dt="2026-02-03T06:48:21.535"/>
    <p1510:client id="{9221CE27-0022-BD3F-281E-BA67ED8EE3E1}" v="662" dt="2026-02-02T23:04:33.567"/>
    <p1510:client id="{AE1C8B69-928D-02A1-0C61-33587C39CDD1}" v="3376" dt="2026-02-03T04:53:26.867"/>
    <p1510:client id="{FB6FFCF9-D7DE-204D-CC54-ED4C947A04ED}" v="1043" dt="2026-02-03T06:46:48.529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88"/>
    <p:restoredTop sz="96327"/>
  </p:normalViewPr>
  <p:slideViewPr>
    <p:cSldViewPr snapToGrid="0">
      <p:cViewPr>
        <p:scale>
          <a:sx n="212" d="100"/>
          <a:sy n="212" d="100"/>
        </p:scale>
        <p:origin x="1096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0D2A8-8F95-47C2-ABE1-A779F5A43C98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663E2-27CE-4C79-91D3-7F5C4262D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5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This effectively</a:t>
            </a:r>
            <a:r>
              <a:rPr lang="en-US"/>
              <a:t> resolved parameter identifiability issues between phase shift and diffusivity.</a:t>
            </a:r>
          </a:p>
          <a:p>
            <a:pPr marL="0" marR="0" lvl="0" indent="0" algn="l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  <a:p>
            <a:pPr marL="0" marR="0" lvl="0" indent="0" algn="l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This 'partial pooling' prevents individual sensor noise from biasing the material property estimate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67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solidFill>
                <a:schemeClr val="tx1"/>
              </a:solidFill>
              <a:latin typeface="+mn-lt"/>
            </a:endParaRPr>
          </a:p>
          <a:p>
            <a:r>
              <a:rPr lang="en-US" sz="1200" dirty="0">
                <a:solidFill>
                  <a:schemeClr val="tx1"/>
                </a:solidFill>
                <a:latin typeface="+mn-lt"/>
              </a:rPr>
              <a:t>The assumption that heat loss can be linearized into a simple Newtonian term is perfectly safe; even if there were non-linearities, their magnitude is too small to affect the diffusivity estimate.</a:t>
            </a:r>
          </a:p>
          <a:p>
            <a:endParaRPr lang="en-US" sz="1200" dirty="0">
              <a:solidFill>
                <a:schemeClr val="tx1"/>
              </a:solidFill>
              <a:latin typeface="+mn-lt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381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2143125"/>
            <a:ext cx="6858000" cy="1828406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38" y="3978607"/>
            <a:ext cx="6858000" cy="1322348"/>
          </a:xfrm>
        </p:spPr>
        <p:txBody>
          <a:bodyPr/>
          <a:lstStyle>
            <a:lvl1pPr marL="0" indent="0" algn="l">
              <a:buNone/>
              <a:defRPr sz="34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8E8FC79-BA3B-426E-0FA3-260A03B7CCA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2888156" cy="318713"/>
            <a:chOff x="0" y="2620"/>
            <a:chExt cx="8192" cy="904"/>
          </a:xfrm>
          <a:solidFill>
            <a:schemeClr val="accent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093595-8DDB-FF9B-E4D6-3A6BB56091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3443FE2-23A5-AFF9-0FF9-B60B14DB8B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B6C2AF2-79FE-8173-D5BE-A7157CC91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E523396-F02D-E47F-45A0-AE81C59E23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EBBEAF6-2B13-2D57-70A9-B7AABA7667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0779A94-3801-CD42-EF9F-9C8C0F0AA8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9454F63-77C7-59AA-73F3-B57BF56F7A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A3295FF-D597-B2FF-1F99-302CFC3B8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</p:grp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938" y="5878286"/>
            <a:ext cx="4215000" cy="740845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 marL="1714412" indent="0">
              <a:buNone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303334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2143125"/>
            <a:ext cx="6858000" cy="1828406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38" y="3978607"/>
            <a:ext cx="6858000" cy="1322348"/>
          </a:xfrm>
        </p:spPr>
        <p:txBody>
          <a:bodyPr/>
          <a:lstStyle>
            <a:lvl1pPr marL="0" indent="0" algn="l">
              <a:buNone/>
              <a:defRPr sz="34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8E8FC79-BA3B-426E-0FA3-260A03B7CCA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2888156" cy="318713"/>
            <a:chOff x="0" y="2620"/>
            <a:chExt cx="8192" cy="904"/>
          </a:xfrm>
          <a:solidFill>
            <a:schemeClr val="accent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093595-8DDB-FF9B-E4D6-3A6BB56091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3443FE2-23A5-AFF9-0FF9-B60B14DB8B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B6C2AF2-79FE-8173-D5BE-A7157CC91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E523396-F02D-E47F-45A0-AE81C59E23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EBBEAF6-2B13-2D57-70A9-B7AABA7667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0779A94-3801-CD42-EF9F-9C8C0F0AA8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9454F63-77C7-59AA-73F3-B57BF56F7A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A3295FF-D597-B2FF-1F99-302CFC3B8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</p:grp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865F075-8D46-FC75-1812-092D894B94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938" y="5878286"/>
            <a:ext cx="4215000" cy="740845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 marL="1714412" indent="0">
              <a:buNone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703244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2143125"/>
            <a:ext cx="6858000" cy="1828406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38" y="3978607"/>
            <a:ext cx="6858000" cy="1322348"/>
          </a:xfrm>
        </p:spPr>
        <p:txBody>
          <a:bodyPr/>
          <a:lstStyle>
            <a:lvl1pPr marL="0" indent="0" algn="l">
              <a:buNone/>
              <a:defRPr sz="34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8E8FC79-BA3B-426E-0FA3-260A03B7CCA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2888156" cy="318713"/>
            <a:chOff x="0" y="2620"/>
            <a:chExt cx="8192" cy="904"/>
          </a:xfrm>
          <a:solidFill>
            <a:schemeClr val="accent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093595-8DDB-FF9B-E4D6-3A6BB56091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3443FE2-23A5-AFF9-0FF9-B60B14DB8B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B6C2AF2-79FE-8173-D5BE-A7157CC91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E523396-F02D-E47F-45A0-AE81C59E23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EBBEAF6-2B13-2D57-70A9-B7AABA7667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0779A94-3801-CD42-EF9F-9C8C0F0AA8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9454F63-77C7-59AA-73F3-B57BF56F7A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A3295FF-D597-B2FF-1F99-302CFC3B8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</p:grp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9BBDEE1-C120-93CF-E96A-DDCAF09613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938" y="5878286"/>
            <a:ext cx="4215000" cy="740845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 marL="1714412" indent="0">
              <a:buNone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685852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2143125"/>
            <a:ext cx="6858000" cy="1828406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38" y="3978607"/>
            <a:ext cx="6858000" cy="1322348"/>
          </a:xfrm>
        </p:spPr>
        <p:txBody>
          <a:bodyPr/>
          <a:lstStyle>
            <a:lvl1pPr marL="0" indent="0" algn="l">
              <a:buNone/>
              <a:defRPr sz="34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8E8FC79-BA3B-426E-0FA3-260A03B7CCA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2888156" cy="318713"/>
            <a:chOff x="0" y="2620"/>
            <a:chExt cx="8192" cy="904"/>
          </a:xfrm>
          <a:solidFill>
            <a:schemeClr val="bg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093595-8DDB-FF9B-E4D6-3A6BB56091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3443FE2-23A5-AFF9-0FF9-B60B14DB8B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B6C2AF2-79FE-8173-D5BE-A7157CC91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E523396-F02D-E47F-45A0-AE81C59E23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EBBEAF6-2B13-2D57-70A9-B7AABA7667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0779A94-3801-CD42-EF9F-9C8C0F0AA8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9454F63-77C7-59AA-73F3-B57BF56F7A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A3295FF-D597-B2FF-1F99-302CFC3B8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</p:grp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5A154518-2174-3B56-0C99-A5AB089E13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938" y="5878286"/>
            <a:ext cx="4215000" cy="740845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 marL="1714412" indent="0">
              <a:buNone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88291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2143125"/>
            <a:ext cx="6858000" cy="1828406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38" y="3978607"/>
            <a:ext cx="6858000" cy="1322348"/>
          </a:xfrm>
        </p:spPr>
        <p:txBody>
          <a:bodyPr/>
          <a:lstStyle>
            <a:lvl1pPr marL="0" indent="0" algn="l">
              <a:buNone/>
              <a:defRPr sz="34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8E8FC79-BA3B-426E-0FA3-260A03B7CCA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2888156" cy="318713"/>
            <a:chOff x="0" y="2620"/>
            <a:chExt cx="8192" cy="904"/>
          </a:xfrm>
          <a:solidFill>
            <a:schemeClr val="bg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093595-8DDB-FF9B-E4D6-3A6BB56091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3443FE2-23A5-AFF9-0FF9-B60B14DB8B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B6C2AF2-79FE-8173-D5BE-A7157CC91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E523396-F02D-E47F-45A0-AE81C59E23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EBBEAF6-2B13-2D57-70A9-B7AABA7667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0779A94-3801-CD42-EF9F-9C8C0F0AA8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9454F63-77C7-59AA-73F3-B57BF56F7A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A3295FF-D597-B2FF-1F99-302CFC3B8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</p:grp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A9082D4-66EE-B3D8-8D68-28FC3E76F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938" y="5878286"/>
            <a:ext cx="4215000" cy="740845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 marL="1714412" indent="0">
              <a:buNone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999913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70" y="238869"/>
            <a:ext cx="3872432" cy="205296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78E8-C051-2A44-B042-DE713C8C3DEC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0" y="238869"/>
            <a:ext cx="4333131" cy="319013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0848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70" y="238869"/>
            <a:ext cx="3872432" cy="205296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A20D-E607-0048-B175-0BCA61DD6524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0" y="238869"/>
            <a:ext cx="4333131" cy="319013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150952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70" y="238869"/>
            <a:ext cx="3872432" cy="205296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9B9-A4BD-8A44-BDC7-C2E9D701EEB6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0" y="238869"/>
            <a:ext cx="4333131" cy="319013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077256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70" y="238869"/>
            <a:ext cx="3872432" cy="2052963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669DACD-2067-0246-8320-466C3C921D92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0" y="238869"/>
            <a:ext cx="4333131" cy="31901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616FDC-4EF6-FE6B-A595-51684B404AC8}"/>
              </a:ext>
            </a:extLst>
          </p:cNvPr>
          <p:cNvSpPr txBox="1"/>
          <p:nvPr userDrawn="1"/>
        </p:nvSpPr>
        <p:spPr>
          <a:xfrm>
            <a:off x="257707" y="6481859"/>
            <a:ext cx="1063125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703" b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75161828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884C5-EE16-6C40-854B-B135F1EB02A6}" type="datetime1">
              <a:rPr lang="en-US" smtClean="0"/>
              <a:t>2/3/26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87D3A79-6341-1EE6-6AFC-EE21900E0BBD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466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61EC9-5B6E-D64C-85A1-53D9A1E67D7F}" type="datetime1">
              <a:rPr lang="en-US" smtClean="0"/>
              <a:t>2/3/26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87D3A79-6341-1EE6-6AFC-EE21900E0BBD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07241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6507-BCCB-AA49-AB4F-4327A1A4BB59}" type="datetime1">
              <a:rPr lang="en-US" smtClean="0"/>
              <a:t>2/3/26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87D3A79-6341-1EE6-6AFC-EE21900E0BBD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52709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7938" y="1023565"/>
            <a:ext cx="4214629" cy="527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619" y="1023565"/>
            <a:ext cx="4214629" cy="527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3A70-F2A6-104E-AF6D-34E5CB0C27C2}" type="datetime1">
              <a:rPr lang="en-US" smtClean="0"/>
              <a:t>2/3/26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842C27-9FB9-DA58-B30B-32E1F2CC862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35858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7938" y="1023565"/>
            <a:ext cx="4214629" cy="527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619" y="1023565"/>
            <a:ext cx="4214629" cy="527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DDFD4-90C9-CF45-BF7C-A0EDD09675AE}" type="datetime1">
              <a:rPr lang="en-US" smtClean="0"/>
              <a:t>2/3/26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842C27-9FB9-DA58-B30B-32E1F2CC862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47691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7938" y="1023565"/>
            <a:ext cx="4214629" cy="527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619" y="1023565"/>
            <a:ext cx="4214629" cy="527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9B6CE-137B-164B-8556-E072A2246110}" type="datetime1">
              <a:rPr lang="en-US" smtClean="0"/>
              <a:t>2/3/26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842C27-9FB9-DA58-B30B-32E1F2CC862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3909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495B-2D7A-8940-A36B-61C6CFB3D27F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FA53975-F3AC-34AF-3C2C-4C631D0C82F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69" y="1023567"/>
            <a:ext cx="2728688" cy="527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07656" y="1023567"/>
            <a:ext cx="2728688" cy="527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76443" y="1023567"/>
            <a:ext cx="2728688" cy="527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47560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B3A05-85BC-EB4E-9040-B1B25163D1EF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FA53975-F3AC-34AF-3C2C-4C631D0C82F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69" y="1023567"/>
            <a:ext cx="2728688" cy="527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07656" y="1023567"/>
            <a:ext cx="2728688" cy="527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76443" y="1023567"/>
            <a:ext cx="2728688" cy="527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763695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BD20-B6CE-1442-B617-08611947490A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FA53975-F3AC-34AF-3C2C-4C631D0C82F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69" y="1023567"/>
            <a:ext cx="2728688" cy="527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07656" y="1023567"/>
            <a:ext cx="2728688" cy="527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76443" y="1023567"/>
            <a:ext cx="2728688" cy="527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116007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14F55-E3B7-7649-B285-7D30B399CBAB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FA53975-F3AC-34AF-3C2C-4C631D0C82F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69" y="2505938"/>
            <a:ext cx="2728688" cy="3792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07656" y="2505938"/>
            <a:ext cx="2728688" cy="3792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76443" y="2505938"/>
            <a:ext cx="2728688" cy="3792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38867" y="1023564"/>
            <a:ext cx="2728688" cy="1336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07656" y="1023564"/>
            <a:ext cx="2728688" cy="1336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76445" y="1023564"/>
            <a:ext cx="2728688" cy="1336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3706673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5B85-09CC-7145-9BB2-129EE2231943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FA53975-F3AC-34AF-3C2C-4C631D0C82F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69" y="2505938"/>
            <a:ext cx="2728688" cy="3792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07656" y="2505938"/>
            <a:ext cx="2728688" cy="3792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76443" y="2505938"/>
            <a:ext cx="2728688" cy="3792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38867" y="1023564"/>
            <a:ext cx="2728688" cy="1336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07656" y="1023564"/>
            <a:ext cx="2728688" cy="1336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76445" y="1023564"/>
            <a:ext cx="2728688" cy="1336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5569655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E3D4-3B22-8345-A987-A41A53B5BE8D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FA53975-F3AC-34AF-3C2C-4C631D0C82F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69" y="2505938"/>
            <a:ext cx="2728688" cy="3792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07656" y="2505938"/>
            <a:ext cx="2728688" cy="3792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76443" y="2505938"/>
            <a:ext cx="2728688" cy="3792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38867" y="1023564"/>
            <a:ext cx="2728688" cy="1336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07656" y="1023564"/>
            <a:ext cx="2728688" cy="1336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76445" y="1023564"/>
            <a:ext cx="2728688" cy="1336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9881526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2"/>
            <a:ext cx="7488000" cy="6111887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F64EE-5FE6-2C4C-83B5-103CC4770F85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34480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2"/>
            <a:ext cx="7488000" cy="6111887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0B55-DE8A-C443-B04B-3AE81EBC0977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26327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2"/>
            <a:ext cx="7488000" cy="6111887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E3B04-7C2B-8B43-91CD-EA874D3404A6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6245177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2"/>
            <a:ext cx="7488000" cy="6111887"/>
          </a:xfrm>
        </p:spPr>
        <p:txBody>
          <a:bodyPr/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FBA9D7-0972-FB48-9E97-9D1AE2FBB164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74596F-2EBD-6CBD-AC54-20A82DA53AC6}"/>
              </a:ext>
            </a:extLst>
          </p:cNvPr>
          <p:cNvSpPr txBox="1"/>
          <p:nvPr userDrawn="1"/>
        </p:nvSpPr>
        <p:spPr>
          <a:xfrm>
            <a:off x="257707" y="6481859"/>
            <a:ext cx="1063125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703" b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46774957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2143125"/>
            <a:ext cx="6858000" cy="1828406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38" y="3978607"/>
            <a:ext cx="6858000" cy="1322348"/>
          </a:xfrm>
        </p:spPr>
        <p:txBody>
          <a:bodyPr/>
          <a:lstStyle>
            <a:lvl1pPr marL="0" indent="0" algn="l">
              <a:buNone/>
              <a:defRPr sz="34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FE73-3A19-174E-9F9C-9C5D8D360328}" type="datetime1">
              <a:rPr lang="en-US" smtClean="0"/>
              <a:t>2/3/26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3696074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2143125"/>
            <a:ext cx="6858000" cy="1828406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38" y="3978607"/>
            <a:ext cx="6858000" cy="1322348"/>
          </a:xfrm>
        </p:spPr>
        <p:txBody>
          <a:bodyPr/>
          <a:lstStyle>
            <a:lvl1pPr marL="0" indent="0" algn="l">
              <a:buNone/>
              <a:defRPr sz="34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DA524-163A-8D4E-8543-0EF85F4F8306}" type="datetime1">
              <a:rPr lang="en-US" smtClean="0"/>
              <a:t>2/3/26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292467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2143125"/>
            <a:ext cx="6858000" cy="1828406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38" y="3978607"/>
            <a:ext cx="6858000" cy="1322348"/>
          </a:xfrm>
        </p:spPr>
        <p:txBody>
          <a:bodyPr/>
          <a:lstStyle>
            <a:lvl1pPr marL="0" indent="0" algn="l">
              <a:buNone/>
              <a:defRPr sz="34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5D5D6-8B48-E04D-876A-1012384F4865}" type="datetime1">
              <a:rPr lang="en-US" smtClean="0"/>
              <a:t>2/3/26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7251175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2143125"/>
            <a:ext cx="6858000" cy="1828406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38" y="3978607"/>
            <a:ext cx="6858000" cy="1322348"/>
          </a:xfrm>
        </p:spPr>
        <p:txBody>
          <a:bodyPr/>
          <a:lstStyle>
            <a:lvl1pPr marL="0" indent="0" algn="l">
              <a:buNone/>
              <a:defRPr sz="34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074DDE-D53A-7F4A-8DDA-53DEA21F32D5}" type="datetime1">
              <a:rPr lang="en-US" smtClean="0"/>
              <a:t>2/3/26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Characterizing Diffusivity Through Linear Losses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59E23-9CD4-0F83-2AD5-01FC923AB86F}"/>
              </a:ext>
            </a:extLst>
          </p:cNvPr>
          <p:cNvSpPr txBox="1"/>
          <p:nvPr userDrawn="1"/>
        </p:nvSpPr>
        <p:spPr>
          <a:xfrm>
            <a:off x="257707" y="6481859"/>
            <a:ext cx="1063125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703" b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3673995235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FE24-2761-C53C-DB8F-34361F8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4213697" cy="2816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0C099-1643-634F-93E6-810FB0364763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E3419-DE5E-44E4-AE38-C6AA7D851F4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4214149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6"/>
            <a:ext cx="4214629" cy="527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3F21B178-EE4F-4743-F66C-864EFA56B6D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91063" y="238125"/>
            <a:ext cx="4214812" cy="43164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3963589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FE24-2761-C53C-DB8F-34361F8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4213697" cy="2816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4240-E591-B749-9FCC-E3E3080F1ED7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E3419-DE5E-44E4-AE38-C6AA7D851F4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4214149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6"/>
            <a:ext cx="4214629" cy="527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3F21B178-EE4F-4743-F66C-864EFA56B6D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91063" y="238125"/>
            <a:ext cx="4214812" cy="43164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90703244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FE24-2761-C53C-DB8F-34361F8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4213697" cy="2816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8B2F5-881A-3247-90BB-FFB6052C3DAF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E3419-DE5E-44E4-AE38-C6AA7D851F4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4214149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6"/>
            <a:ext cx="4214629" cy="527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3F21B178-EE4F-4743-F66C-864EFA56B6D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91063" y="238125"/>
            <a:ext cx="4214812" cy="43164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813155556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Two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FE24-2761-C53C-DB8F-34361F8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2695781" cy="2816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09B79-2FC5-7D4C-B7AC-C202D6AF5429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E3419-DE5E-44E4-AE38-C6AA7D851F4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2695781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6"/>
            <a:ext cx="2695781" cy="527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07093" y="238869"/>
            <a:ext cx="5699154" cy="2997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06910" y="3301779"/>
            <a:ext cx="5699154" cy="2997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6506536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Two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FE24-2761-C53C-DB8F-34361F8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2695781" cy="2816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3026E-BA23-0949-BCB5-269977A79504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E3419-DE5E-44E4-AE38-C6AA7D851F4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2695781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6"/>
            <a:ext cx="2695781" cy="527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07093" y="238869"/>
            <a:ext cx="5699154" cy="2997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06910" y="3301779"/>
            <a:ext cx="5699154" cy="2997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36073686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Two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FE24-2761-C53C-DB8F-34361F8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2695781" cy="2816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0E6E-FAF8-EE40-8396-F9D83D09E80A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E3419-DE5E-44E4-AE38-C6AA7D851F4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2695781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6"/>
            <a:ext cx="2695781" cy="527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07093" y="238869"/>
            <a:ext cx="5699154" cy="2997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06910" y="3301779"/>
            <a:ext cx="5699154" cy="2997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66761766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Six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FE24-2761-C53C-DB8F-34361F8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2695781" cy="2816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8E18E-9560-5B46-87F3-C70652FE4245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E3419-DE5E-44E4-AE38-C6AA7D851F4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2695781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6"/>
            <a:ext cx="2695781" cy="527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07094" y="238869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1497" y="238869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AE11EAB9-5B6A-D02A-3A83-69839EDFA1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07094" y="2281657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9A300816-7305-9DE9-5A0B-FFC71B5288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1497" y="2281657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6CB6590A-9F89-2AAC-FEBF-82282583FD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07094" y="4324445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ADF26534-5850-4C7E-5C54-570EA64C0B0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1497" y="4324445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12834865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Six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FE24-2761-C53C-DB8F-34361F8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2695781" cy="2816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7BCD0-B899-6446-B25D-19FF9F034342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E3419-DE5E-44E4-AE38-C6AA7D851F4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2695781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6"/>
            <a:ext cx="2695781" cy="527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07094" y="238869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1497" y="238869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AE11EAB9-5B6A-D02A-3A83-69839EDFA1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07094" y="2281657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9A300816-7305-9DE9-5A0B-FFC71B5288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1497" y="2281657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6CB6590A-9F89-2AAC-FEBF-82282583FD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07094" y="4324445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ADF26534-5850-4C7E-5C54-570EA64C0B0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1497" y="4324445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65944140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Six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FE24-2761-C53C-DB8F-34361F8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2695781" cy="2816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67263-2E7A-7D4F-9006-9214483452FE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E3419-DE5E-44E4-AE38-C6AA7D851F4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2695781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6"/>
            <a:ext cx="2695781" cy="527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07094" y="238869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1497" y="238869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AE11EAB9-5B6A-D02A-3A83-69839EDFA1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07094" y="2281657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9A300816-7305-9DE9-5A0B-FFC71B5288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1497" y="2281657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6CB6590A-9F89-2AAC-FEBF-82282583FD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07094" y="4324445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ADF26534-5850-4C7E-5C54-570EA64C0B0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1497" y="4324445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10735916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F4502-38E7-B445-8010-D9F105FF1E57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238869"/>
            <a:ext cx="4214629" cy="60599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4E7C98BF-939A-EF48-0118-5E7B32F3A04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91063" y="238125"/>
            <a:ext cx="4214812" cy="43164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339553058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01A77-BC3C-734D-8EAF-349796201436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238869"/>
            <a:ext cx="4214629" cy="60599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4E7C98BF-939A-EF48-0118-5E7B32F3A04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91063" y="238125"/>
            <a:ext cx="4214812" cy="43164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851632786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AB095-9F0E-3444-9804-6CFF0D8220BF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238869"/>
            <a:ext cx="4214629" cy="60599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4E7C98BF-939A-EF48-0118-5E7B32F3A04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91063" y="238125"/>
            <a:ext cx="4214812" cy="43164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520186088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C6175-68E7-9B4C-AC82-C73482CABDA6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91619" y="238869"/>
            <a:ext cx="4214629" cy="60599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0E0E4502-E062-47BA-15B0-9E800A85653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37570" y="238125"/>
            <a:ext cx="4214812" cy="43164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785877609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79EC5-B2A2-D240-98D0-508B67C0D7F7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91619" y="238869"/>
            <a:ext cx="4214629" cy="60599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0E0E4502-E062-47BA-15B0-9E800A85653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37570" y="238125"/>
            <a:ext cx="4214812" cy="43164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497417614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83F7B-7C32-7B47-A5B4-B8CA75149C21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91619" y="238869"/>
            <a:ext cx="4214629" cy="60599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0E0E4502-E062-47BA-15B0-9E800A85653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37570" y="238125"/>
            <a:ext cx="4214812" cy="43164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674719720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9C5A0-489F-FB49-A3E4-9EC24C135089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8869" y="238869"/>
            <a:ext cx="8667378" cy="605991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06752833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B291-AF46-E740-9832-F0B8512E1032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8869" y="238869"/>
            <a:ext cx="8667378" cy="605991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71502315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7B18C-9878-E445-9BFF-CFC2FFF04049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8869" y="238869"/>
            <a:ext cx="8667378" cy="605991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66673389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9145117" cy="685799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0433404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CA993338-E59A-ABD4-1500-DF719F4D00F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8667378" cy="956459"/>
            <a:chOff x="0" y="2620"/>
            <a:chExt cx="8192" cy="904"/>
          </a:xfrm>
          <a:solidFill>
            <a:schemeClr val="accent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DC754D1-10F2-389A-E83C-A808EC4090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C9DC3D0-9577-47E6-5C51-7E7E34A3C7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B2BF7D7-F996-AA40-BCB7-78D674436B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69BD4D9C-97BA-B80D-BA52-13BB287AF3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FA5A2EEB-C815-1664-D6D2-B296F024A7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83C937E8-CE6D-8AC3-B9A8-1B61D670AF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D9FD2CD-EE9C-E849-FE7A-8FF6546C1B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2AE61A1-3E54-F01B-3B46-4FB720A35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8999050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CA993338-E59A-ABD4-1500-DF719F4D00F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8667378" cy="956459"/>
            <a:chOff x="0" y="2620"/>
            <a:chExt cx="8192" cy="904"/>
          </a:xfrm>
          <a:solidFill>
            <a:schemeClr val="accent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DC754D1-10F2-389A-E83C-A808EC4090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C9DC3D0-9577-47E6-5C51-7E7E34A3C7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B2BF7D7-F996-AA40-BCB7-78D674436B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69BD4D9C-97BA-B80D-BA52-13BB287AF3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FA5A2EEB-C815-1664-D6D2-B296F024A7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83C937E8-CE6D-8AC3-B9A8-1B61D670AF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D9FD2CD-EE9C-E849-FE7A-8FF6546C1B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2AE61A1-3E54-F01B-3B46-4FB720A35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5397036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CA993338-E59A-ABD4-1500-DF719F4D00F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8667378" cy="956459"/>
            <a:chOff x="0" y="2620"/>
            <a:chExt cx="8192" cy="904"/>
          </a:xfrm>
          <a:solidFill>
            <a:schemeClr val="accent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DC754D1-10F2-389A-E83C-A808EC4090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C9DC3D0-9577-47E6-5C51-7E7E34A3C7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B2BF7D7-F996-AA40-BCB7-78D674436B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69BD4D9C-97BA-B80D-BA52-13BB287AF3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FA5A2EEB-C815-1664-D6D2-B296F024A7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83C937E8-CE6D-8AC3-B9A8-1B61D670AF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D9FD2CD-EE9C-E849-FE7A-8FF6546C1B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2AE61A1-3E54-F01B-3B46-4FB720A35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5701700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CA993338-E59A-ABD4-1500-DF719F4D00F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8667378" cy="956459"/>
            <a:chOff x="0" y="2620"/>
            <a:chExt cx="8192" cy="904"/>
          </a:xfrm>
          <a:solidFill>
            <a:schemeClr val="bg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DC754D1-10F2-389A-E83C-A808EC4090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C9DC3D0-9577-47E6-5C51-7E7E34A3C7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B2BF7D7-F996-AA40-BCB7-78D674436B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69BD4D9C-97BA-B80D-BA52-13BB287AF3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FA5A2EEB-C815-1664-D6D2-B296F024A7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83C937E8-CE6D-8AC3-B9A8-1B61D670AF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D9FD2CD-EE9C-E849-FE7A-8FF6546C1B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2AE61A1-3E54-F01B-3B46-4FB720A35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0105972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CA993338-E59A-ABD4-1500-DF719F4D00F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8667374" cy="956459"/>
            <a:chOff x="0" y="2620"/>
            <a:chExt cx="8192" cy="904"/>
          </a:xfrm>
          <a:solidFill>
            <a:schemeClr val="bg2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DC754D1-10F2-389A-E83C-A808EC4090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C9DC3D0-9577-47E6-5C51-7E7E34A3C7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B2BF7D7-F996-AA40-BCB7-78D674436B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69BD4D9C-97BA-B80D-BA52-13BB287AF3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FA5A2EEB-C815-1664-D6D2-B296F024A7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83C937E8-CE6D-8AC3-B9A8-1B61D670AF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D9FD2CD-EE9C-E849-FE7A-8FF6546C1B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2AE61A1-3E54-F01B-3B46-4FB720A35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6125896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3338719"/>
            <a:ext cx="6858000" cy="1828406"/>
          </a:xfrm>
        </p:spPr>
        <p:txBody>
          <a:bodyPr anchor="t"/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8E8FC79-BA3B-426E-0FA3-260A03B7CCA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2888156" cy="318713"/>
            <a:chOff x="0" y="2620"/>
            <a:chExt cx="8192" cy="904"/>
          </a:xfrm>
          <a:solidFill>
            <a:schemeClr val="accent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093595-8DDB-FF9B-E4D6-3A6BB56091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3443FE2-23A5-AFF9-0FF9-B60B14DB8B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B6C2AF2-79FE-8173-D5BE-A7157CC91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E523396-F02D-E47F-45A0-AE81C59E23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EBBEAF6-2B13-2D57-70A9-B7AABA7667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0779A94-3801-CD42-EF9F-9C8C0F0AA8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9454F63-77C7-59AA-73F3-B57BF56F7A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A3295FF-D597-B2FF-1F99-302CFC3B8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</p:grp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29DD7BB7-FAAD-1E33-6D9A-56308567BB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938" y="5878286"/>
            <a:ext cx="4215000" cy="740845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 marL="1714412" indent="0">
              <a:buNone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1819100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3338719"/>
            <a:ext cx="6858000" cy="1828406"/>
          </a:xfrm>
        </p:spPr>
        <p:txBody>
          <a:bodyPr anchor="t"/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8E8FC79-BA3B-426E-0FA3-260A03B7CCA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2888156" cy="318713"/>
            <a:chOff x="0" y="2620"/>
            <a:chExt cx="8192" cy="904"/>
          </a:xfrm>
          <a:solidFill>
            <a:schemeClr val="accent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093595-8DDB-FF9B-E4D6-3A6BB56091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3443FE2-23A5-AFF9-0FF9-B60B14DB8B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B6C2AF2-79FE-8173-D5BE-A7157CC91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E523396-F02D-E47F-45A0-AE81C59E23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EBBEAF6-2B13-2D57-70A9-B7AABA7667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0779A94-3801-CD42-EF9F-9C8C0F0AA8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9454F63-77C7-59AA-73F3-B57BF56F7A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A3295FF-D597-B2FF-1F99-302CFC3B8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</p:grp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D93DBD47-A3C0-D42C-49FC-2B180A063F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938" y="5878286"/>
            <a:ext cx="4215000" cy="740845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 marL="1714412" indent="0">
              <a:buNone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4780460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3338719"/>
            <a:ext cx="6858000" cy="1828406"/>
          </a:xfrm>
        </p:spPr>
        <p:txBody>
          <a:bodyPr anchor="t"/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8E8FC79-BA3B-426E-0FA3-260A03B7CCA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2888156" cy="318713"/>
            <a:chOff x="0" y="2620"/>
            <a:chExt cx="8192" cy="904"/>
          </a:xfrm>
          <a:solidFill>
            <a:schemeClr val="accent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093595-8DDB-FF9B-E4D6-3A6BB56091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3443FE2-23A5-AFF9-0FF9-B60B14DB8B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B6C2AF2-79FE-8173-D5BE-A7157CC91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E523396-F02D-E47F-45A0-AE81C59E23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EBBEAF6-2B13-2D57-70A9-B7AABA7667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0779A94-3801-CD42-EF9F-9C8C0F0AA8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9454F63-77C7-59AA-73F3-B57BF56F7A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A3295FF-D597-B2FF-1F99-302CFC3B8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</p:grp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723CCD76-51C8-553F-1F7B-147440A0F1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938" y="5878286"/>
            <a:ext cx="4215000" cy="740845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 marL="1714412" indent="0">
              <a:buNone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2480219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3338719"/>
            <a:ext cx="6858000" cy="1828406"/>
          </a:xfrm>
        </p:spPr>
        <p:txBody>
          <a:bodyPr anchor="t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8E8FC79-BA3B-426E-0FA3-260A03B7CCA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2888156" cy="318713"/>
            <a:chOff x="0" y="2620"/>
            <a:chExt cx="8192" cy="904"/>
          </a:xfrm>
          <a:solidFill>
            <a:schemeClr val="bg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093595-8DDB-FF9B-E4D6-3A6BB56091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3443FE2-23A5-AFF9-0FF9-B60B14DB8B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B6C2AF2-79FE-8173-D5BE-A7157CC91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E523396-F02D-E47F-45A0-AE81C59E23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EBBEAF6-2B13-2D57-70A9-B7AABA7667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0779A94-3801-CD42-EF9F-9C8C0F0AA8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9454F63-77C7-59AA-73F3-B57BF56F7A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A3295FF-D597-B2FF-1F99-302CFC3B8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</p:grp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ACA8F0BD-D9BE-4B68-AF80-7E8029EE28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938" y="5878286"/>
            <a:ext cx="4215000" cy="740845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 marL="1714412" indent="0">
              <a:buNone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0926829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83BDD-1F92-0544-BBA6-883BE5176821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35468B1-7A85-EDD8-5B99-107B6B0527B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1818251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A5CF7-CA4D-DB4C-ADC1-5988022C7FDA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35468B1-7A85-EDD8-5B99-107B6B0527B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418207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29F15-14DF-9E43-914E-804E5031673B}" type="datetime1">
              <a:rPr lang="en-US" smtClean="0"/>
              <a:t>2/3/26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35468B1-7A85-EDD8-5B99-107B6B0527B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912678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F645D-4453-A246-8EE1-C1376E053AF7}" type="datetime1">
              <a:rPr lang="en-US" smtClean="0"/>
              <a:t>2/3/26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464979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AC3A-F6F4-6C4B-897E-1D67954D84DC}" type="datetime1">
              <a:rPr lang="en-US" smtClean="0"/>
              <a:t>2/3/26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609558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A230C-7DEE-954B-9D75-0E20FC7C9E28}" type="datetime1">
              <a:rPr lang="en-US" smtClean="0"/>
              <a:t>2/3/26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25240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4440-CEDC-0D92-E0D5-5C1E3B5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8667378" cy="28160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A021F-8558-9528-DA3D-486CCDB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869" y="1023567"/>
            <a:ext cx="8667378" cy="52752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A8F0-AC4B-E4A0-94D0-99C4BFD97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48847" y="6481862"/>
            <a:ext cx="2057400" cy="1372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703">
                <a:solidFill>
                  <a:schemeClr val="accent1"/>
                </a:solidFill>
              </a:defRPr>
            </a:lvl1pPr>
          </a:lstStyle>
          <a:p>
            <a:fld id="{ED941DC9-80C6-1A41-9B32-71C2DDFEA5E1}" type="datetime1">
              <a:rPr lang="en-US" smtClean="0"/>
              <a:t>2/3/26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FC7A-298A-77A0-6596-56B0B3FD8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73945" y="6481859"/>
            <a:ext cx="2567589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703">
                <a:solidFill>
                  <a:schemeClr val="accent1"/>
                </a:solidFill>
              </a:defRPr>
            </a:lvl1pPr>
          </a:lstStyle>
          <a:p>
            <a:r>
              <a:rPr lang="en-GB"/>
              <a:t>Characterizing Diffusivity Through Linear Losses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7C40-7EB7-0CFD-6F6C-54AE57D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52566" y="6481859"/>
            <a:ext cx="238868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>
              <a:defRPr sz="703" b="0">
                <a:solidFill>
                  <a:schemeClr val="accent1"/>
                </a:solidFill>
                <a:latin typeface="+mj-lt"/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6CDD9-97E9-735B-8549-0F3AE3CCAC58}"/>
              </a:ext>
            </a:extLst>
          </p:cNvPr>
          <p:cNvSpPr txBox="1"/>
          <p:nvPr userDrawn="1"/>
        </p:nvSpPr>
        <p:spPr>
          <a:xfrm>
            <a:off x="257707" y="6481859"/>
            <a:ext cx="1063125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703" b="0">
                <a:solidFill>
                  <a:schemeClr val="accent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14508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78" r:id="rId2"/>
    <p:sldLayoutId id="2147483679" r:id="rId3"/>
    <p:sldLayoutId id="2147483649" r:id="rId4"/>
    <p:sldLayoutId id="2147483657" r:id="rId5"/>
    <p:sldLayoutId id="2147483658" r:id="rId6"/>
    <p:sldLayoutId id="2147483680" r:id="rId7"/>
    <p:sldLayoutId id="2147483681" r:id="rId8"/>
    <p:sldLayoutId id="2147483675" r:id="rId9"/>
    <p:sldLayoutId id="2147483650" r:id="rId10"/>
    <p:sldLayoutId id="2147483682" r:id="rId11"/>
    <p:sldLayoutId id="2147483683" r:id="rId12"/>
    <p:sldLayoutId id="2147483652" r:id="rId13"/>
    <p:sldLayoutId id="2147483684" r:id="rId14"/>
    <p:sldLayoutId id="2147483685" r:id="rId15"/>
    <p:sldLayoutId id="2147483659" r:id="rId16"/>
    <p:sldLayoutId id="2147483686" r:id="rId17"/>
    <p:sldLayoutId id="2147483687" r:id="rId18"/>
    <p:sldLayoutId id="2147483660" r:id="rId19"/>
    <p:sldLayoutId id="2147483688" r:id="rId20"/>
    <p:sldLayoutId id="2147483689" r:id="rId21"/>
    <p:sldLayoutId id="2147483677" r:id="rId22"/>
    <p:sldLayoutId id="2147483690" r:id="rId23"/>
    <p:sldLayoutId id="2147483691" r:id="rId24"/>
    <p:sldLayoutId id="2147483676" r:id="rId25"/>
    <p:sldLayoutId id="2147483667" r:id="rId26"/>
    <p:sldLayoutId id="2147483692" r:id="rId27"/>
    <p:sldLayoutId id="2147483693" r:id="rId28"/>
    <p:sldLayoutId id="2147483666" r:id="rId29"/>
    <p:sldLayoutId id="2147483661" r:id="rId30"/>
    <p:sldLayoutId id="2147483694" r:id="rId31"/>
    <p:sldLayoutId id="2147483695" r:id="rId32"/>
    <p:sldLayoutId id="2147483669" r:id="rId33"/>
    <p:sldLayoutId id="2147483696" r:id="rId34"/>
    <p:sldLayoutId id="2147483697" r:id="rId35"/>
    <p:sldLayoutId id="2147483668" r:id="rId36"/>
    <p:sldLayoutId id="2147483698" r:id="rId37"/>
    <p:sldLayoutId id="2147483699" r:id="rId38"/>
    <p:sldLayoutId id="2147483662" r:id="rId39"/>
    <p:sldLayoutId id="2147483700" r:id="rId40"/>
    <p:sldLayoutId id="2147483701" r:id="rId41"/>
    <p:sldLayoutId id="2147483663" r:id="rId42"/>
    <p:sldLayoutId id="2147483702" r:id="rId43"/>
    <p:sldLayoutId id="2147483703" r:id="rId44"/>
    <p:sldLayoutId id="2147483664" r:id="rId45"/>
    <p:sldLayoutId id="2147483704" r:id="rId46"/>
    <p:sldLayoutId id="2147483705" r:id="rId47"/>
    <p:sldLayoutId id="2147483665" r:id="rId48"/>
    <p:sldLayoutId id="2147483671" r:id="rId49"/>
    <p:sldLayoutId id="2147483706" r:id="rId50"/>
    <p:sldLayoutId id="2147483707" r:id="rId51"/>
    <p:sldLayoutId id="2147483670" r:id="rId52"/>
    <p:sldLayoutId id="2147483672" r:id="rId53"/>
    <p:sldLayoutId id="2147483674" r:id="rId54"/>
    <p:sldLayoutId id="2147483708" r:id="rId55"/>
    <p:sldLayoutId id="2147483709" r:id="rId56"/>
    <p:sldLayoutId id="2147483673" r:id="rId57"/>
    <p:sldLayoutId id="2147483654" r:id="rId58"/>
    <p:sldLayoutId id="2147483710" r:id="rId59"/>
    <p:sldLayoutId id="2147483711" r:id="rId60"/>
    <p:sldLayoutId id="2147483655" r:id="rId61"/>
    <p:sldLayoutId id="2147483712" r:id="rId62"/>
    <p:sldLayoutId id="2147483713" r:id="rId63"/>
  </p:sldLayoutIdLst>
  <p:transition>
    <p:fade/>
  </p:transition>
  <p:hf hdr="0"/>
  <p:txStyles>
    <p:titleStyle>
      <a:lvl1pPr algn="l" defTabSz="685765" rtl="0" eaLnBrk="1" latinLnBrk="0" hangingPunct="1">
        <a:lnSpc>
          <a:spcPct val="90000"/>
        </a:lnSpc>
        <a:spcBef>
          <a:spcPct val="0"/>
        </a:spcBef>
        <a:buNone/>
        <a:defRPr sz="20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161991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23984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485975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3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6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18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1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7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50" userDrawn="1">
          <p15:clr>
            <a:srgbClr val="F26B43"/>
          </p15:clr>
        </p15:guide>
        <p15:guide id="4" pos="5610" userDrawn="1">
          <p15:clr>
            <a:srgbClr val="F26B43"/>
          </p15:clr>
        </p15:guide>
        <p15:guide id="5" orient="horz" pos="150" userDrawn="1">
          <p15:clr>
            <a:srgbClr val="F26B43"/>
          </p15:clr>
        </p15:guide>
        <p15:guide id="6" orient="horz" pos="4170" userDrawn="1">
          <p15:clr>
            <a:srgbClr val="F26B43"/>
          </p15:clr>
        </p15:guide>
        <p15:guide id="7" orient="horz" pos="3968" userDrawn="1">
          <p15:clr>
            <a:srgbClr val="F26B43"/>
          </p15:clr>
        </p15:guide>
        <p15:guide id="8" orient="horz" pos="645" userDrawn="1">
          <p15:clr>
            <a:srgbClr val="F26B43"/>
          </p15:clr>
        </p15:guide>
        <p15:guide id="9" pos="2805" userDrawn="1">
          <p15:clr>
            <a:srgbClr val="F26B43"/>
          </p15:clr>
        </p15:guide>
        <p15:guide id="10" pos="295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onics-cooling.com/2007/08/thermal-diffusivity/" TargetMode="External"/><Relationship Id="rId2" Type="http://schemas.openxmlformats.org/officeDocument/2006/relationships/hyperlink" Target="https://arxiv.org/abs/1111.4246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D525D-DC8B-1131-02E2-361C35457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7" y="1242391"/>
            <a:ext cx="8423177" cy="2729140"/>
          </a:xfrm>
        </p:spPr>
        <p:txBody>
          <a:bodyPr/>
          <a:lstStyle/>
          <a:p>
            <a:r>
              <a:rPr lang="en-GB" dirty="0"/>
              <a:t>On The Bayesian Characterization of Diffusivity Through Linear Heat Losses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1CBB25D-C920-91FD-D8E0-77931A099E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8125" y="5878513"/>
            <a:ext cx="4214813" cy="741362"/>
          </a:xfrm>
        </p:spPr>
        <p:txBody>
          <a:bodyPr/>
          <a:lstStyle/>
          <a:p>
            <a:r>
              <a:rPr lang="en-US" dirty="0">
                <a:latin typeface="Imperial Sans Text Medium"/>
              </a:rPr>
              <a:t>Yash Pincha and Isaac Reid, 03/02/2026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55756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76AC778-CB96-9E55-EE73-768CFB9F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8667378" cy="572197"/>
          </a:xfrm>
        </p:spPr>
        <p:txBody>
          <a:bodyPr/>
          <a:lstStyle/>
          <a:p>
            <a:r>
              <a:rPr lang="en-GB" sz="3200"/>
              <a:t>Introduction and Aims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E8DC6C0-3A09-866E-8AA4-9D502CAC0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69" y="1135979"/>
            <a:ext cx="4362158" cy="486792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The system is governed by the </a:t>
            </a:r>
            <a:r>
              <a:rPr lang="en-US" dirty="0">
                <a:solidFill>
                  <a:schemeClr val="accent1"/>
                </a:solidFill>
              </a:rPr>
              <a:t>1-dimensional heat equation</a:t>
            </a:r>
            <a:r>
              <a:rPr lang="en-US" dirty="0"/>
              <a:t> with a periodic source at the origin, to which we append </a:t>
            </a:r>
            <a:r>
              <a:rPr lang="en-US" dirty="0">
                <a:solidFill>
                  <a:schemeClr val="accent1"/>
                </a:solidFill>
              </a:rPr>
              <a:t>Newton’s cooling term.</a:t>
            </a:r>
          </a:p>
          <a:p>
            <a:endParaRPr lang="en-US" dirty="0"/>
          </a:p>
          <a:p>
            <a:endParaRPr lang="en-GB" dirty="0"/>
          </a:p>
          <a:p>
            <a:r>
              <a:rPr lang="en-GB" dirty="0"/>
              <a:t>We perform </a:t>
            </a:r>
            <a:r>
              <a:rPr lang="en-GB" dirty="0">
                <a:solidFill>
                  <a:schemeClr val="accent1"/>
                </a:solidFill>
              </a:rPr>
              <a:t>Bayesian inference</a:t>
            </a:r>
            <a:r>
              <a:rPr lang="en-GB" dirty="0"/>
              <a:t> on four candidate models derived from physical motivations of this experiment. </a:t>
            </a:r>
            <a:endParaRPr lang="en-US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We use </a:t>
            </a:r>
            <a:r>
              <a:rPr lang="en-GB" dirty="0">
                <a:solidFill>
                  <a:schemeClr val="accent1"/>
                </a:solidFill>
              </a:rPr>
              <a:t>Hamiltonian Monte Carlo</a:t>
            </a:r>
            <a:r>
              <a:rPr lang="en-GB" dirty="0"/>
              <a:t> methods, testing on the </a:t>
            </a:r>
            <a:r>
              <a:rPr lang="en-GB" dirty="0">
                <a:solidFill>
                  <a:schemeClr val="accent1"/>
                </a:solidFill>
              </a:rPr>
              <a:t>leave-one-out predictive power</a:t>
            </a:r>
            <a:r>
              <a:rPr lang="en-GB" dirty="0"/>
              <a:t> of our models. </a:t>
            </a:r>
            <a:endParaRPr lang="en-US" dirty="0"/>
          </a:p>
          <a:p>
            <a:endParaRPr lang="en-US" dirty="0"/>
          </a:p>
          <a:p>
            <a:r>
              <a:rPr lang="en-US" dirty="0"/>
              <a:t>Does the inclusion of linear heat loss terms </a:t>
            </a:r>
            <a:r>
              <a:rPr lang="en-US" dirty="0">
                <a:solidFill>
                  <a:schemeClr val="accent1"/>
                </a:solidFill>
              </a:rPr>
              <a:t>statistically improve</a:t>
            </a:r>
            <a:r>
              <a:rPr lang="en-US" dirty="0"/>
              <a:t> the predictive accuracy of diffusivity measurements in </a:t>
            </a:r>
            <a:r>
              <a:rPr lang="en-US" dirty="0" err="1"/>
              <a:t>Aluminium</a:t>
            </a:r>
            <a:r>
              <a:rPr lang="en-US" dirty="0"/>
              <a:t>?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E2EE926-6020-7117-9C8F-BFB82CFC67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8847" y="6481862"/>
            <a:ext cx="2057400" cy="137270"/>
          </a:xfrm>
        </p:spPr>
        <p:txBody>
          <a:bodyPr/>
          <a:lstStyle/>
          <a:p>
            <a:fld id="{F036519F-F3D5-CC46-BCEC-0147BA4941E1}" type="datetime1">
              <a:rPr lang="en-US" smtClean="0"/>
              <a:t>2/3/26</a:t>
            </a:fld>
            <a:endParaRPr lang="en-GB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C653D60-A7DB-8A9D-E771-FD2D6784B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3945" y="6481859"/>
            <a:ext cx="2567589" cy="137272"/>
          </a:xfrm>
        </p:spPr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691918A-7B38-7048-FE68-4AB62BA9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52566" y="6481859"/>
            <a:ext cx="238868" cy="137272"/>
          </a:xfrm>
        </p:spPr>
        <p:txBody>
          <a:bodyPr/>
          <a:lstStyle/>
          <a:p>
            <a:fld id="{CBA53E11-492D-48B3-9F9B-09541CA2A39A}" type="slidenum">
              <a:rPr lang="en-GB" smtClean="0"/>
              <a:t>2</a:t>
            </a:fld>
            <a:endParaRPr lang="en-GB"/>
          </a:p>
        </p:txBody>
      </p:sp>
      <p:pic>
        <p:nvPicPr>
          <p:cNvPr id="8" name="Picture 7" descr="A white light in the dark&#10;&#10;AI-generated content may be incorrect.">
            <a:extLst>
              <a:ext uri="{FF2B5EF4-FFF2-40B4-BE49-F238E27FC236}">
                <a16:creationId xmlns:a16="http://schemas.microsoft.com/office/drawing/2014/main" id="{27D3A30E-3CE3-5283-1C17-C50398532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596" y="991106"/>
            <a:ext cx="4367864" cy="487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69001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9F7AA-646D-9F30-A578-1633B09D0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331645"/>
            <a:ext cx="8667378" cy="281604"/>
          </a:xfrm>
        </p:spPr>
        <p:txBody>
          <a:bodyPr/>
          <a:lstStyle/>
          <a:p>
            <a:r>
              <a:rPr lang="en-GB" sz="3200" dirty="0"/>
              <a:t>Experimental Methods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E2A7A-377E-1C8A-FBC4-3E966CDAC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BDB2-9121-344D-A123-3AD19ECF5949}" type="datetime1">
              <a:rPr lang="en-US" smtClean="0"/>
              <a:t>2/3/26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159A2-06D0-AB95-5424-11631235B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440FA-A34D-A8AC-5162-05D5CF743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3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54D9C7-11F3-F405-3926-003E989F74C6}"/>
              </a:ext>
            </a:extLst>
          </p:cNvPr>
          <p:cNvSpPr txBox="1"/>
          <p:nvPr/>
        </p:nvSpPr>
        <p:spPr>
          <a:xfrm>
            <a:off x="238869" y="1087590"/>
            <a:ext cx="3573599" cy="49090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5000"/>
              </a:lnSpc>
            </a:pPr>
            <a:r>
              <a:rPr lang="en-GB" sz="1600" dirty="0">
                <a:solidFill>
                  <a:schemeClr val="accent1"/>
                </a:solidFill>
              </a:rPr>
              <a:t>Peltier pump </a:t>
            </a:r>
            <a:r>
              <a:rPr lang="en-GB" sz="1600" dirty="0"/>
              <a:t>outputting sinusoidal voltage of amplitude 7V. We varied the periods, using 5, 10, 15, 20, 25, 35, 40, 50, 60, and 70s.</a:t>
            </a:r>
          </a:p>
          <a:p>
            <a:pPr>
              <a:lnSpc>
                <a:spcPct val="105000"/>
              </a:lnSpc>
            </a:pPr>
            <a:endParaRPr lang="en-GB" sz="1600" dirty="0"/>
          </a:p>
          <a:p>
            <a:pPr>
              <a:lnSpc>
                <a:spcPct val="105000"/>
              </a:lnSpc>
            </a:pPr>
            <a:r>
              <a:rPr lang="en-GB" sz="1600" dirty="0"/>
              <a:t>Linearity check revealed higher-order harmonics; mitigated by filtering data to the fundamental frequency.</a:t>
            </a:r>
          </a:p>
          <a:p>
            <a:pPr>
              <a:lnSpc>
                <a:spcPct val="105000"/>
              </a:lnSpc>
            </a:pPr>
            <a:endParaRPr lang="en-GB" sz="1600" dirty="0"/>
          </a:p>
          <a:p>
            <a:pPr>
              <a:lnSpc>
                <a:spcPct val="105000"/>
              </a:lnSpc>
            </a:pPr>
            <a:r>
              <a:rPr lang="en-GB" sz="1600" dirty="0"/>
              <a:t>Once some sense of </a:t>
            </a:r>
            <a:r>
              <a:rPr lang="en-GB" sz="1600" dirty="0">
                <a:solidFill>
                  <a:schemeClr val="accent1"/>
                </a:solidFill>
              </a:rPr>
              <a:t>equilibrium</a:t>
            </a:r>
            <a:r>
              <a:rPr lang="en-GB" sz="1600" dirty="0"/>
              <a:t> was observed at each period, we took data over 800s. </a:t>
            </a:r>
          </a:p>
          <a:p>
            <a:pPr>
              <a:lnSpc>
                <a:spcPct val="105000"/>
              </a:lnSpc>
            </a:pPr>
            <a:endParaRPr lang="en-GB" sz="1600" dirty="0"/>
          </a:p>
          <a:p>
            <a:pPr>
              <a:lnSpc>
                <a:spcPct val="105000"/>
              </a:lnSpc>
            </a:pPr>
            <a:r>
              <a:rPr lang="en-GB" sz="1600" dirty="0"/>
              <a:t>Every signal was trimmed to a window with minimal </a:t>
            </a:r>
            <a:r>
              <a:rPr lang="en-GB" sz="1600" dirty="0">
                <a:solidFill>
                  <a:schemeClr val="accent1"/>
                </a:solidFill>
              </a:rPr>
              <a:t>transient power. </a:t>
            </a:r>
            <a:endParaRPr lang="en-GB" sz="1600" dirty="0"/>
          </a:p>
          <a:p>
            <a:pPr>
              <a:lnSpc>
                <a:spcPct val="105000"/>
              </a:lnSpc>
            </a:pPr>
            <a:endParaRPr lang="en-GB" sz="1600" dirty="0"/>
          </a:p>
          <a:p>
            <a:pPr>
              <a:lnSpc>
                <a:spcPct val="105000"/>
              </a:lnSpc>
            </a:pPr>
            <a:r>
              <a:rPr lang="en-GB" sz="1600" dirty="0"/>
              <a:t>We choose to explore aluminium since we expected it would have the least ambiguous existing data.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EEFAD5-A9D5-E771-EB3A-C58F8B4FC90F}"/>
              </a:ext>
            </a:extLst>
          </p:cNvPr>
          <p:cNvSpPr txBox="1"/>
          <p:nvPr/>
        </p:nvSpPr>
        <p:spPr>
          <a:xfrm>
            <a:off x="4235163" y="5799362"/>
            <a:ext cx="4669969" cy="51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5000"/>
              </a:lnSpc>
            </a:pPr>
            <a:r>
              <a:rPr lang="en-GB" sz="1600" dirty="0"/>
              <a:t>Figure 1, demonstrating clipping of data to minimal transients across the first five periods collected.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CC6D21-ECA2-2384-7E0C-F441AE5B6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084" y="781756"/>
            <a:ext cx="4735404" cy="502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04904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942C-5D2B-844D-492F-8857F65BE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2"/>
            <a:ext cx="2431179" cy="503727"/>
          </a:xfrm>
        </p:spPr>
        <p:txBody>
          <a:bodyPr/>
          <a:lstStyle/>
          <a:p>
            <a:r>
              <a:rPr lang="en-GB" sz="3200" dirty="0"/>
              <a:t>Heat Losses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CCAC2-F572-9E85-AD19-17D0E2734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951EC-2771-1D47-89DE-71ED346964E6}" type="datetime1">
              <a:rPr lang="en-US" smtClean="0"/>
              <a:t>2/3/26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51253-3CA1-4945-09C6-7ADE351B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B580B-A7E2-C493-B6D2-6FA64F9F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4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B14827-6CAD-41C3-9FED-7E6DF2A8213E}"/>
              </a:ext>
            </a:extLst>
          </p:cNvPr>
          <p:cNvSpPr txBox="1"/>
          <p:nvPr/>
        </p:nvSpPr>
        <p:spPr>
          <a:xfrm>
            <a:off x="258305" y="966787"/>
            <a:ext cx="4840470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+mj-lt"/>
              </a:rPr>
              <a:t>Convection.</a:t>
            </a:r>
            <a:r>
              <a:rPr lang="en-US" sz="1600" dirty="0"/>
              <a:t> Heat is transferred to the air surrounding the cylinder. Even in a stagnant box, natural convection occurs as heated air rises due to buoyancy. </a:t>
            </a:r>
            <a:r>
              <a:rPr lang="en-US" sz="1600" dirty="0">
                <a:solidFill>
                  <a:schemeClr val="accent1"/>
                </a:solidFill>
              </a:rPr>
              <a:t>For small temperature fluctuations, this is laminar.</a:t>
            </a:r>
          </a:p>
          <a:p>
            <a:endParaRPr lang="en-US" sz="1600" dirty="0"/>
          </a:p>
          <a:p>
            <a:r>
              <a:rPr lang="en-US" sz="1600" dirty="0">
                <a:solidFill>
                  <a:schemeClr val="accent1"/>
                </a:solidFill>
                <a:latin typeface="+mj-lt"/>
              </a:rPr>
              <a:t>Radiation.</a:t>
            </a:r>
            <a:r>
              <a:rPr lang="en-US" sz="1600" dirty="0"/>
              <a:t> The rod emits infrared energy to the surrounding walls of the box, following from the Stefan-Boltzmann law. </a:t>
            </a:r>
            <a:r>
              <a:rPr lang="en-US" sz="1600" dirty="0">
                <a:solidFill>
                  <a:schemeClr val="accent1"/>
                </a:solidFill>
              </a:rPr>
              <a:t>We linearized this by a Taylor expansion about the ambient temperature.</a:t>
            </a:r>
          </a:p>
          <a:p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B1B3D5-707A-A1BB-DEA0-36F3B953FF9F}"/>
              </a:ext>
            </a:extLst>
          </p:cNvPr>
          <p:cNvSpPr txBox="1"/>
          <p:nvPr/>
        </p:nvSpPr>
        <p:spPr>
          <a:xfrm>
            <a:off x="1572768" y="72237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287E2E-E10C-C790-00C5-CBEF9F757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46" y="3380674"/>
            <a:ext cx="2567589" cy="5029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768EE4-D0D1-9592-DC75-17E657CBFC64}"/>
              </a:ext>
            </a:extLst>
          </p:cNvPr>
          <p:cNvSpPr txBox="1"/>
          <p:nvPr/>
        </p:nvSpPr>
        <p:spPr>
          <a:xfrm>
            <a:off x="238869" y="5336918"/>
            <a:ext cx="484047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+mj-lt"/>
              </a:rPr>
              <a:t>Conduction.</a:t>
            </a:r>
            <a:r>
              <a:rPr lang="en-US" sz="1600" dirty="0"/>
              <a:t> Heat "leaks" through the base or mechanical supports holding the cylinder. Since conduction follows Fourier's Law, it is </a:t>
            </a:r>
            <a:r>
              <a:rPr lang="en-US" sz="1600">
                <a:solidFill>
                  <a:schemeClr val="accent1"/>
                </a:solidFill>
              </a:rPr>
              <a:t>naturally linear.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E463D29-C68A-06D8-ADA1-82B01C8BC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56" y="4019022"/>
            <a:ext cx="4621696" cy="911619"/>
          </a:xfrm>
          <a:prstGeom prst="rect">
            <a:avLst/>
          </a:prstGeom>
        </p:spPr>
      </p:pic>
      <p:sp>
        <p:nvSpPr>
          <p:cNvPr id="15" name="Left Brace 14">
            <a:extLst>
              <a:ext uri="{FF2B5EF4-FFF2-40B4-BE49-F238E27FC236}">
                <a16:creationId xmlns:a16="http://schemas.microsoft.com/office/drawing/2014/main" id="{542BF7C8-1A48-AECD-CB3F-4509DF2277DA}"/>
              </a:ext>
            </a:extLst>
          </p:cNvPr>
          <p:cNvSpPr/>
          <p:nvPr/>
        </p:nvSpPr>
        <p:spPr>
          <a:xfrm flipH="1">
            <a:off x="5098775" y="1096249"/>
            <a:ext cx="628079" cy="4928260"/>
          </a:xfrm>
          <a:prstGeom prst="leftBrace">
            <a:avLst>
              <a:gd name="adj1" fmla="val 8333"/>
              <a:gd name="adj2" fmla="val 4981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 descr="A black text with a plus and a white background&#10;&#10;AI-generated content may be incorrect.">
            <a:extLst>
              <a:ext uri="{FF2B5EF4-FFF2-40B4-BE49-F238E27FC236}">
                <a16:creationId xmlns:a16="http://schemas.microsoft.com/office/drawing/2014/main" id="{BBA70E52-8D98-2B66-C830-AD7D502060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450" t="-9286" r="37735" b="1"/>
          <a:stretch>
            <a:fillRect/>
          </a:stretch>
        </p:blipFill>
        <p:spPr>
          <a:xfrm>
            <a:off x="5759080" y="3224097"/>
            <a:ext cx="155923" cy="562109"/>
          </a:xfrm>
          <a:prstGeom prst="rect">
            <a:avLst/>
          </a:prstGeom>
        </p:spPr>
      </p:pic>
      <p:pic>
        <p:nvPicPr>
          <p:cNvPr id="10" name="Picture 9" descr="A diagram of a cylinder&#10;&#10;AI-generated content may be incorrect.">
            <a:extLst>
              <a:ext uri="{FF2B5EF4-FFF2-40B4-BE49-F238E27FC236}">
                <a16:creationId xmlns:a16="http://schemas.microsoft.com/office/drawing/2014/main" id="{32C9EC9F-F16B-3CCD-7203-18EC80E4D1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749" y="1733227"/>
            <a:ext cx="2997110" cy="322020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6C0E29C-B9CB-BDC2-7011-0BA396BBF8DD}"/>
              </a:ext>
            </a:extLst>
          </p:cNvPr>
          <p:cNvSpPr/>
          <p:nvPr/>
        </p:nvSpPr>
        <p:spPr>
          <a:xfrm>
            <a:off x="6592421" y="5449756"/>
            <a:ext cx="483079" cy="66137"/>
          </a:xfrm>
          <a:prstGeom prst="rect">
            <a:avLst/>
          </a:prstGeom>
          <a:solidFill>
            <a:srgbClr val="D015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1CBD0-B89C-8835-B43A-31FB4E1F1994}"/>
              </a:ext>
            </a:extLst>
          </p:cNvPr>
          <p:cNvSpPr txBox="1"/>
          <p:nvPr/>
        </p:nvSpPr>
        <p:spPr>
          <a:xfrm>
            <a:off x="7125224" y="5336802"/>
            <a:ext cx="1590260" cy="2451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5000"/>
              </a:lnSpc>
            </a:pPr>
            <a:r>
              <a:rPr lang="en-GB" sz="1600" dirty="0"/>
              <a:t> conduction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80AE9F-0245-A376-5CFC-6B53B975EEA9}"/>
              </a:ext>
            </a:extLst>
          </p:cNvPr>
          <p:cNvSpPr/>
          <p:nvPr/>
        </p:nvSpPr>
        <p:spPr>
          <a:xfrm>
            <a:off x="6585232" y="5244878"/>
            <a:ext cx="483079" cy="66137"/>
          </a:xfrm>
          <a:prstGeom prst="rect">
            <a:avLst/>
          </a:prstGeom>
          <a:solidFill>
            <a:srgbClr val="047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60D6EA-D427-EEFA-A2BB-7B7B094EFAC2}"/>
              </a:ext>
            </a:extLst>
          </p:cNvPr>
          <p:cNvSpPr txBox="1"/>
          <p:nvPr/>
        </p:nvSpPr>
        <p:spPr>
          <a:xfrm>
            <a:off x="7118035" y="5131924"/>
            <a:ext cx="1590260" cy="2451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5000"/>
              </a:lnSpc>
            </a:pPr>
            <a:r>
              <a:rPr lang="en-GB" sz="1600"/>
              <a:t> radiation</a:t>
            </a:r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1743CC-E173-819E-E3A4-281AFE445582}"/>
              </a:ext>
            </a:extLst>
          </p:cNvPr>
          <p:cNvSpPr/>
          <p:nvPr/>
        </p:nvSpPr>
        <p:spPr>
          <a:xfrm>
            <a:off x="6585232" y="5043595"/>
            <a:ext cx="483079" cy="66137"/>
          </a:xfrm>
          <a:prstGeom prst="rect">
            <a:avLst/>
          </a:prstGeom>
          <a:solidFill>
            <a:srgbClr val="832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CA832C-F5F9-B7F7-BEF4-971CC2FA37CB}"/>
              </a:ext>
            </a:extLst>
          </p:cNvPr>
          <p:cNvSpPr txBox="1"/>
          <p:nvPr/>
        </p:nvSpPr>
        <p:spPr>
          <a:xfrm>
            <a:off x="7118035" y="4930641"/>
            <a:ext cx="1590260" cy="2451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5000"/>
              </a:lnSpc>
            </a:pPr>
            <a:r>
              <a:rPr lang="en-GB" sz="1600" dirty="0"/>
              <a:t> convection</a:t>
            </a: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05968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25B5E-28E5-BAFC-E0B2-D289F45DC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7F412C60-9A5F-5375-0D50-E22FF6AD58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8847" y="6481862"/>
            <a:ext cx="2057400" cy="137270"/>
          </a:xfrm>
        </p:spPr>
        <p:txBody>
          <a:bodyPr/>
          <a:lstStyle/>
          <a:p>
            <a:fld id="{BD074636-B3AD-A640-B4D4-0D0B216608C8}" type="datetime1">
              <a:rPr lang="en-US" smtClean="0"/>
              <a:t>2/3/26</a:t>
            </a:fld>
            <a:endParaRPr lang="en-GB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C6269E8-44AA-C38C-0BAE-A735A1BF0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3945" y="6481859"/>
            <a:ext cx="2567589" cy="137272"/>
          </a:xfrm>
        </p:spPr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3E452CC-8B60-01D3-DE5B-6BA074C2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52566" y="6481859"/>
            <a:ext cx="238868" cy="137272"/>
          </a:xfrm>
        </p:spPr>
        <p:txBody>
          <a:bodyPr/>
          <a:lstStyle/>
          <a:p>
            <a:fld id="{CBA53E11-492D-48B3-9F9B-09541CA2A39A}" type="slidenum">
              <a:rPr lang="en-GB" smtClean="0"/>
              <a:t>5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127B4B7-5CC9-CB49-BFF6-52E0EB37D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8667378" cy="572197"/>
          </a:xfrm>
        </p:spPr>
        <p:txBody>
          <a:bodyPr/>
          <a:lstStyle/>
          <a:p>
            <a:r>
              <a:rPr lang="en-GB" sz="3200"/>
              <a:t>Candidate Models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3898567-1CCD-9B9C-69FE-34121E8E24E0}"/>
              </a:ext>
            </a:extLst>
          </p:cNvPr>
          <p:cNvSpPr txBox="1">
            <a:spLocks/>
          </p:cNvSpPr>
          <p:nvPr/>
        </p:nvSpPr>
        <p:spPr>
          <a:xfrm>
            <a:off x="348599" y="2329015"/>
            <a:ext cx="3887702" cy="74815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SimpleForward</a:t>
            </a:r>
            <a:br>
              <a:rPr lang="en-US" dirty="0"/>
            </a:br>
            <a:r>
              <a:rPr lang="en-US" sz="1600" dirty="0">
                <a:solidFill>
                  <a:schemeClr val="tx1"/>
                </a:solidFill>
                <a:latin typeface="+mn-lt"/>
              </a:rPr>
              <a:t>basic unbounded 1-dimensional diffusion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B81888-9E84-16B2-7774-A2DECA7B385D}"/>
              </a:ext>
            </a:extLst>
          </p:cNvPr>
          <p:cNvSpPr txBox="1"/>
          <p:nvPr/>
        </p:nvSpPr>
        <p:spPr>
          <a:xfrm>
            <a:off x="2483427" y="577734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US" sz="16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A5F461D-D3A9-D22E-DA4E-B2E4A1546BC1}"/>
              </a:ext>
            </a:extLst>
          </p:cNvPr>
          <p:cNvSpPr txBox="1">
            <a:spLocks/>
          </p:cNvSpPr>
          <p:nvPr/>
        </p:nvSpPr>
        <p:spPr>
          <a:xfrm>
            <a:off x="363138" y="4402531"/>
            <a:ext cx="4438650" cy="1032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FullSolutionNewton</a:t>
            </a:r>
            <a:br>
              <a:rPr lang="en-US" dirty="0"/>
            </a:br>
            <a:r>
              <a:rPr lang="en-US" sz="1600" dirty="0">
                <a:solidFill>
                  <a:schemeClr val="tx1"/>
                </a:solidFill>
                <a:latin typeface="+mn-lt"/>
              </a:rPr>
              <a:t>includes convective transfer, linearized Stefan-Boltzmann radiation, conduction as a consequence of Fourier’s law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5E44B11-A725-FB2B-BBD7-7A522658FB2F}"/>
              </a:ext>
            </a:extLst>
          </p:cNvPr>
          <p:cNvSpPr txBox="1">
            <a:spLocks/>
          </p:cNvSpPr>
          <p:nvPr/>
        </p:nvSpPr>
        <p:spPr>
          <a:xfrm>
            <a:off x="5056791" y="2316783"/>
            <a:ext cx="3849456" cy="7603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FullSolution</a:t>
            </a:r>
            <a:endParaRPr lang="en-US" dirty="0"/>
          </a:p>
          <a:p>
            <a:r>
              <a:rPr lang="en-US" sz="1600" dirty="0">
                <a:solidFill>
                  <a:schemeClr val="tx1"/>
                </a:solidFill>
                <a:latin typeface="+mn-lt"/>
              </a:rPr>
              <a:t>Adds the effect of a finite length cylinder with reflection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3FA13FB-8871-F770-60B6-05D1147496B9}"/>
              </a:ext>
            </a:extLst>
          </p:cNvPr>
          <p:cNvSpPr txBox="1">
            <a:spLocks/>
          </p:cNvSpPr>
          <p:nvPr/>
        </p:nvSpPr>
        <p:spPr>
          <a:xfrm>
            <a:off x="4936902" y="4398445"/>
            <a:ext cx="3969345" cy="1032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FullSolutionRobin</a:t>
            </a:r>
            <a:br>
              <a:rPr lang="en-US" dirty="0"/>
            </a:br>
            <a:r>
              <a:rPr lang="en-US" sz="1600" dirty="0">
                <a:solidFill>
                  <a:schemeClr val="tx1"/>
                </a:solidFill>
                <a:latin typeface="+mn-lt"/>
              </a:rPr>
              <a:t>Diffusion equation with heat losses + convective heat loss at the boundary. Measures leakiness.</a:t>
            </a:r>
          </a:p>
        </p:txBody>
      </p:sp>
      <p:pic>
        <p:nvPicPr>
          <p:cNvPr id="44" name="Picture 4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A4B988F-01E9-A7E3-3BE8-367B96646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632" y="3196468"/>
            <a:ext cx="2990850" cy="723900"/>
          </a:xfrm>
          <a:prstGeom prst="rect">
            <a:avLst/>
          </a:prstGeom>
        </p:spPr>
      </p:pic>
      <p:pic>
        <p:nvPicPr>
          <p:cNvPr id="45" name="Picture 44" descr="A black arrow pointing to a white background&#10;&#10;AI-generated content may be incorrect.">
            <a:extLst>
              <a:ext uri="{FF2B5EF4-FFF2-40B4-BE49-F238E27FC236}">
                <a16:creationId xmlns:a16="http://schemas.microsoft.com/office/drawing/2014/main" id="{3D81835B-87AC-47DA-A85A-35D6A77AD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80" y="3215518"/>
            <a:ext cx="3562350" cy="685800"/>
          </a:xfrm>
          <a:prstGeom prst="rect">
            <a:avLst/>
          </a:prstGeom>
        </p:spPr>
      </p:pic>
      <p:pic>
        <p:nvPicPr>
          <p:cNvPr id="46" name="Picture 45" descr="A black text with a plus and a white background&#10;&#10;AI-generated content may be incorrect.">
            <a:extLst>
              <a:ext uri="{FF2B5EF4-FFF2-40B4-BE49-F238E27FC236}">
                <a16:creationId xmlns:a16="http://schemas.microsoft.com/office/drawing/2014/main" id="{34B01A20-9F6C-CFC2-0335-B4296B82E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05" y="5730540"/>
            <a:ext cx="3238500" cy="51435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2CEC489-125B-A680-F099-CACFA2FD4A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157" y="5597190"/>
            <a:ext cx="3733800" cy="781050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F4E229ED-A4EA-87F8-6A1F-16E0769C893F}"/>
              </a:ext>
            </a:extLst>
          </p:cNvPr>
          <p:cNvSpPr txBox="1">
            <a:spLocks/>
          </p:cNvSpPr>
          <p:nvPr/>
        </p:nvSpPr>
        <p:spPr>
          <a:xfrm>
            <a:off x="348599" y="1091752"/>
            <a:ext cx="4223401" cy="6634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General boundary conditions</a:t>
            </a:r>
            <a:br>
              <a:rPr lang="en-US"/>
            </a:br>
            <a:r>
              <a:rPr lang="en-US" sz="1600">
                <a:solidFill>
                  <a:schemeClr val="tx1"/>
                </a:solidFill>
                <a:latin typeface="+mn-lt"/>
              </a:rPr>
              <a:t>unless specified otherwise, the conditions are: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61ECC9-2DE7-063D-809E-10D31775191B}"/>
              </a:ext>
            </a:extLst>
          </p:cNvPr>
          <p:cNvSpPr txBox="1"/>
          <p:nvPr/>
        </p:nvSpPr>
        <p:spPr>
          <a:xfrm>
            <a:off x="6463145" y="270163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24C31FC-C5BD-D36F-9F23-6C18991A279B}"/>
              </a:ext>
            </a:extLst>
          </p:cNvPr>
          <p:cNvCxnSpPr>
            <a:cxnSpLocks/>
          </p:cNvCxnSpPr>
          <p:nvPr/>
        </p:nvCxnSpPr>
        <p:spPr>
          <a:xfrm>
            <a:off x="298987" y="1963881"/>
            <a:ext cx="8307158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 descr="A group of black letters&#10;&#10;AI-generated content may be incorrect.">
            <a:extLst>
              <a:ext uri="{FF2B5EF4-FFF2-40B4-BE49-F238E27FC236}">
                <a16:creationId xmlns:a16="http://schemas.microsoft.com/office/drawing/2014/main" id="{4F29D4DC-CED8-4FFB-B59B-653B870E450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528" t="-1810" r="-316" b="54656"/>
          <a:stretch>
            <a:fillRect/>
          </a:stretch>
        </p:blipFill>
        <p:spPr>
          <a:xfrm>
            <a:off x="4865440" y="758935"/>
            <a:ext cx="3208152" cy="592868"/>
          </a:xfrm>
          <a:prstGeom prst="rect">
            <a:avLst/>
          </a:prstGeom>
        </p:spPr>
      </p:pic>
      <p:pic>
        <p:nvPicPr>
          <p:cNvPr id="51" name="Picture 50" descr="A group of black letters&#10;&#10;AI-generated content may be incorrect.">
            <a:extLst>
              <a:ext uri="{FF2B5EF4-FFF2-40B4-BE49-F238E27FC236}">
                <a16:creationId xmlns:a16="http://schemas.microsoft.com/office/drawing/2014/main" id="{9E31A865-9C42-7053-E70E-1BB9589D096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41" t="53563" r="-545" b="14338"/>
          <a:stretch>
            <a:fillRect/>
          </a:stretch>
        </p:blipFill>
        <p:spPr>
          <a:xfrm>
            <a:off x="4514266" y="1370605"/>
            <a:ext cx="3199988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38281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511C7-F059-DDD6-15CF-6D0E43F8B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8667378" cy="653174"/>
          </a:xfrm>
        </p:spPr>
        <p:txBody>
          <a:bodyPr/>
          <a:lstStyle/>
          <a:p>
            <a:r>
              <a:rPr lang="en-GB" sz="3200"/>
              <a:t>Processing and the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A2713-BD7C-7960-3265-B0FD443B9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67" y="934357"/>
            <a:ext cx="8684313" cy="447165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To obtain informed priors, we </a:t>
            </a:r>
            <a:r>
              <a:rPr lang="en-GB" dirty="0">
                <a:solidFill>
                  <a:schemeClr val="accent1"/>
                </a:solidFill>
              </a:rPr>
              <a:t>seeded with least-squares minimized a sinusoid</a:t>
            </a:r>
            <a:r>
              <a:rPr lang="en-GB" dirty="0"/>
              <a:t> to our data </a:t>
            </a:r>
            <a:r>
              <a:rPr lang="en-GB" dirty="0">
                <a:sym typeface="Wingdings" pitchFamily="2" charset="2"/>
              </a:rPr>
              <a:t> helped solve identifiability issues between phase and diffusivity </a:t>
            </a:r>
            <a:endParaRPr lang="en-GB" dirty="0"/>
          </a:p>
          <a:p>
            <a:endParaRPr lang="en-GB" dirty="0"/>
          </a:p>
          <a:p>
            <a:r>
              <a:rPr lang="en-GB" dirty="0"/>
              <a:t>We used the No-U-Turn Sampler [1] to adaptively explore the target distribution space, sampling with </a:t>
            </a:r>
            <a:r>
              <a:rPr lang="en-GB" dirty="0">
                <a:solidFill>
                  <a:schemeClr val="accent1"/>
                </a:solidFill>
              </a:rPr>
              <a:t>4 chains, 1500 draws and 500 tuning steps per frequency model. </a:t>
            </a:r>
          </a:p>
          <a:p>
            <a:endParaRPr lang="en-GB" dirty="0">
              <a:solidFill>
                <a:schemeClr val="accent1"/>
              </a:solidFill>
            </a:endParaRPr>
          </a:p>
          <a:p>
            <a:r>
              <a:rPr lang="en-GB" dirty="0"/>
              <a:t>Verified convergence of the posterior via the Gelman-Reuben statistic.</a:t>
            </a:r>
          </a:p>
          <a:p>
            <a:endParaRPr lang="en-GB" dirty="0">
              <a:solidFill>
                <a:schemeClr val="accent1"/>
              </a:solidFill>
            </a:endParaRPr>
          </a:p>
          <a:p>
            <a:r>
              <a:rPr lang="en-GB" dirty="0"/>
              <a:t>To account for potential variations in heat injection, local parameters (amplitude, phase, mean temperature) were allowed to vary per frequency and sensor; the physical constants </a:t>
            </a:r>
            <a:r>
              <a:rPr lang="en-GB" dirty="0">
                <a:solidFill>
                  <a:schemeClr val="accent1"/>
                </a:solidFill>
              </a:rPr>
              <a:t>D and </a:t>
            </a:r>
            <a:r>
              <a:rPr lang="el-GR" dirty="0">
                <a:solidFill>
                  <a:schemeClr val="accent1"/>
                </a:solidFill>
              </a:rPr>
              <a:t>η</a:t>
            </a:r>
            <a:r>
              <a:rPr lang="en-US" dirty="0"/>
              <a:t> </a:t>
            </a:r>
            <a:r>
              <a:rPr lang="en-GB" dirty="0"/>
              <a:t>and</a:t>
            </a:r>
            <a:r>
              <a:rPr lang="en-GB" dirty="0">
                <a:solidFill>
                  <a:schemeClr val="accent1"/>
                </a:solidFill>
              </a:rPr>
              <a:t> were constrained as global parameters shared across the hierarchy. </a:t>
            </a:r>
            <a:endParaRPr lang="en-GB" dirty="0"/>
          </a:p>
          <a:p>
            <a:endParaRPr lang="en-GB" dirty="0"/>
          </a:p>
          <a:p>
            <a:r>
              <a:rPr lang="en-GB" dirty="0"/>
              <a:t>Models were then ranked by </a:t>
            </a:r>
            <a:r>
              <a:rPr lang="en-GB" dirty="0">
                <a:solidFill>
                  <a:schemeClr val="tx2"/>
                </a:solidFill>
              </a:rPr>
              <a:t>expected log predictive density</a:t>
            </a:r>
            <a:r>
              <a:rPr lang="en-GB" dirty="0"/>
              <a:t> using leave-one-out cross validation.</a:t>
            </a:r>
          </a:p>
          <a:p>
            <a:endParaRPr lang="en-GB" dirty="0"/>
          </a:p>
          <a:p>
            <a:r>
              <a:rPr lang="en-GB" dirty="0"/>
              <a:t>This approach provides a rigorous statistical penalty for model complexity, ensuring that the selected model is the one that </a:t>
            </a:r>
            <a:r>
              <a:rPr lang="en-GB" dirty="0">
                <a:solidFill>
                  <a:schemeClr val="accent1"/>
                </a:solidFill>
              </a:rPr>
              <a:t>best captures the underlying physics without overfitting the thermistor noise. </a:t>
            </a:r>
            <a:r>
              <a:rPr lang="en-GB" dirty="0"/>
              <a:t>ELPD is defined below.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5423A-2ED3-7964-3511-AF2ABB13B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DF8D-A228-480E-8440-FE49350CD6F4}" type="datetime1">
              <a:rPr lang="en-GB" smtClean="0"/>
              <a:pPr/>
              <a:t>03/02/2026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FE328-8895-E427-FE0C-A77AF3AB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02E3A2-327E-745F-0A37-3545D3238FDA}"/>
              </a:ext>
            </a:extLst>
          </p:cNvPr>
          <p:cNvSpPr/>
          <p:nvPr/>
        </p:nvSpPr>
        <p:spPr>
          <a:xfrm>
            <a:off x="5037513" y="5195455"/>
            <a:ext cx="3640974" cy="1147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</a:endParaRPr>
          </a:p>
        </p:txBody>
      </p:sp>
      <p:pic>
        <p:nvPicPr>
          <p:cNvPr id="15" name="Picture 14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1F9459E8-1279-5771-8C41-C3C2C8A12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863" y="5363059"/>
            <a:ext cx="3526510" cy="80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93730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F40AA-FF53-5DB2-BD6F-AF326E3C2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Results and Discussion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F6712C-E093-D448-348B-418C48AE7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71" y="692960"/>
            <a:ext cx="8268657" cy="47639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FBF0CD-95BA-7590-F5EB-012E21E0E0F6}"/>
              </a:ext>
            </a:extLst>
          </p:cNvPr>
          <p:cNvSpPr txBox="1"/>
          <p:nvPr/>
        </p:nvSpPr>
        <p:spPr>
          <a:xfrm>
            <a:off x="5442857" y="621574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FDA2529-DF34-3B32-DF4A-2DDDCD5EAFD5}"/>
              </a:ext>
            </a:extLst>
          </p:cNvPr>
          <p:cNvSpPr txBox="1">
            <a:spLocks/>
          </p:cNvSpPr>
          <p:nvPr/>
        </p:nvSpPr>
        <p:spPr>
          <a:xfrm>
            <a:off x="604688" y="5456903"/>
            <a:ext cx="7727654" cy="9215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tx1"/>
                </a:solidFill>
                <a:latin typeface="+mn-lt"/>
              </a:rPr>
              <a:t>Figure 3. Above is a plot with ELPD score normalized by column for each model across every frequency. All </a:t>
            </a:r>
            <a:r>
              <a:rPr lang="en-US" sz="1600" dirty="0" err="1">
                <a:solidFill>
                  <a:schemeClr val="tx1"/>
                </a:solidFill>
                <a:latin typeface="+mn-lt"/>
              </a:rPr>
              <a:t>FullSolution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candidates perform </a:t>
            </a:r>
            <a:r>
              <a:rPr lang="en-US" sz="1600" dirty="0">
                <a:latin typeface="+mn-lt"/>
              </a:rPr>
              <a:t>comparingly across all frequencies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600" dirty="0" err="1">
                <a:solidFill>
                  <a:schemeClr val="tx1"/>
                </a:solidFill>
                <a:latin typeface="+mn-lt"/>
              </a:rPr>
              <a:t>SimpleForward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sees a </a:t>
            </a:r>
            <a:r>
              <a:rPr lang="en-US" sz="1600" dirty="0">
                <a:latin typeface="+mn-lt"/>
              </a:rPr>
              <a:t>consistently decreasing power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in predictive capacity as expected.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9C84907-54EE-ED1C-D0D9-FAF54A60A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0677B-D699-5049-A53D-857D84F23450}" type="datetime1">
              <a:rPr lang="en-US" smtClean="0"/>
              <a:t>2/3/26</a:t>
            </a:fld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0838F45-1F68-B170-27A2-416A2109C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CF6C783-3495-2362-825E-AE03CA4B9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806074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037AA-E113-7C84-08D4-740702ABC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AF73-60AF-EB30-0C41-882BE3BD8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Validating an Isolated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5BC995-114C-B0A6-2A0D-A6ED230436C6}"/>
              </a:ext>
            </a:extLst>
          </p:cNvPr>
          <p:cNvSpPr txBox="1"/>
          <p:nvPr/>
        </p:nvSpPr>
        <p:spPr>
          <a:xfrm>
            <a:off x="5442857" y="621574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72C377C-EA68-F40D-7144-3EF50C746540}"/>
              </a:ext>
            </a:extLst>
          </p:cNvPr>
          <p:cNvSpPr txBox="1">
            <a:spLocks/>
          </p:cNvSpPr>
          <p:nvPr/>
        </p:nvSpPr>
        <p:spPr>
          <a:xfrm>
            <a:off x="1182223" y="5365507"/>
            <a:ext cx="6779553" cy="97391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tx1"/>
                </a:solidFill>
                <a:latin typeface="+mn-lt"/>
              </a:rPr>
              <a:t>Figure 3. above is a plot of the posteriors across all chains, all frequencies for the </a:t>
            </a:r>
            <a:r>
              <a:rPr lang="en-US" sz="1600" dirty="0" err="1">
                <a:solidFill>
                  <a:schemeClr val="tx1"/>
                </a:solidFill>
                <a:latin typeface="+mn-lt"/>
              </a:rPr>
              <a:t>FullSolutionNewton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and </a:t>
            </a:r>
            <a:r>
              <a:rPr lang="en-US" sz="1600" dirty="0" err="1">
                <a:solidFill>
                  <a:schemeClr val="tx1"/>
                </a:solidFill>
                <a:latin typeface="+mn-lt"/>
              </a:rPr>
              <a:t>FullSolutionRobin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models. The </a:t>
            </a:r>
            <a:r>
              <a:rPr lang="en-US" sz="1600" dirty="0">
                <a:latin typeface="+mn-lt"/>
              </a:rPr>
              <a:t>effective loss coefficient is consistently infinitesimal frequencies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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cylinder is thermally isolated during the wave's propagation.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FAEABF-9208-308B-8493-DC961EAAF67F}"/>
              </a:ext>
            </a:extLst>
          </p:cNvPr>
          <p:cNvSpPr txBox="1"/>
          <p:nvPr/>
        </p:nvSpPr>
        <p:spPr>
          <a:xfrm>
            <a:off x="4863402" y="569741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313504-789E-BAA4-CE10-5A9349DA5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66" y="662567"/>
            <a:ext cx="7772400" cy="456049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FAB1F1-650D-CED9-EAE6-EA26FA83F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8313-9E7C-AF41-8A9D-2EF6EB2FB91D}" type="datetime1">
              <a:rPr lang="en-US" smtClean="0"/>
              <a:t>2/3/26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6D6522D-2AFF-6684-F33B-998DFB139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6E3F1AB-0A7A-C526-C028-CA5A601B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70634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2FE19-6535-0215-731F-56CDF2C6B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69" y="1023566"/>
            <a:ext cx="8667378" cy="3396034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Since both models in Figure 4. agree that </a:t>
            </a:r>
            <a:r>
              <a:rPr lang="el-GR" dirty="0"/>
              <a:t>η</a:t>
            </a:r>
            <a:r>
              <a:rPr lang="en-US" dirty="0"/>
              <a:t> is close to zero, the Bayesian evidence will likely favor the simpler </a:t>
            </a:r>
            <a:r>
              <a:rPr lang="en-US" dirty="0" err="1"/>
              <a:t>FullSolution</a:t>
            </a:r>
            <a:r>
              <a:rPr lang="en-US" dirty="0"/>
              <a:t> or </a:t>
            </a:r>
            <a:r>
              <a:rPr lang="en-US" dirty="0" err="1"/>
              <a:t>SimpleForward</a:t>
            </a:r>
            <a:r>
              <a:rPr lang="en-US" dirty="0"/>
              <a:t> models.</a:t>
            </a:r>
          </a:p>
          <a:p>
            <a:endParaRPr lang="en-US" dirty="0"/>
          </a:p>
          <a:p>
            <a:r>
              <a:rPr lang="en-US" dirty="0"/>
              <a:t>The tight grouping of the lines indicates that chains have converged to a single, consistent physical reality across 10 different frequencies.</a:t>
            </a:r>
          </a:p>
          <a:p>
            <a:endParaRPr lang="en-US" dirty="0"/>
          </a:p>
          <a:p>
            <a:r>
              <a:rPr lang="en-US" dirty="0"/>
              <a:t>The null hypothesis is now that the mean diffusivity for each pairwise model is the same. </a:t>
            </a:r>
          </a:p>
          <a:p>
            <a:endParaRPr lang="en-US" dirty="0"/>
          </a:p>
          <a:p>
            <a:r>
              <a:rPr lang="en-US" dirty="0"/>
              <a:t>On performing Welch’s t-tests (since the samples have unequal variances and sizes), we reveal that there is no statistical significantly different results across the models. 	</a:t>
            </a:r>
          </a:p>
          <a:p>
            <a:endParaRPr lang="en-US" dirty="0"/>
          </a:p>
          <a:p>
            <a:r>
              <a:rPr lang="en-US" dirty="0"/>
              <a:t>Below is a summary of diffusivity statistics for each model, across all frequencies. Percent error is computed relative to the literature value of D = 9.7 m^2/s [3].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9A41E-2DF8-CC03-62C7-A265D14D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EFE6-5697-6C43-BB1E-5E3098D09A6E}" type="datetime1">
              <a:rPr lang="en-US" smtClean="0"/>
              <a:t>2/3/26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C640F-DA0C-7D0E-3267-44E93CA57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793E6-B330-B8E9-912D-EA1DFA951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9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BC973BC-7594-4FDD-B19D-E10BB16DA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2"/>
            <a:ext cx="8667378" cy="653171"/>
          </a:xfrm>
        </p:spPr>
        <p:txBody>
          <a:bodyPr/>
          <a:lstStyle/>
          <a:p>
            <a:r>
              <a:rPr lang="en-GB" sz="3200" dirty="0"/>
              <a:t>Results and Discussion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956BD6-6098-E524-9239-E993FD688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95" y="4524334"/>
            <a:ext cx="8269210" cy="161927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DACD271-EB01-5D1C-659B-04FD97253285}"/>
              </a:ext>
            </a:extLst>
          </p:cNvPr>
          <p:cNvSpPr txBox="1">
            <a:spLocks/>
          </p:cNvSpPr>
          <p:nvPr/>
        </p:nvSpPr>
        <p:spPr>
          <a:xfrm>
            <a:off x="708173" y="3573037"/>
            <a:ext cx="7727654" cy="5083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878988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B5BB0-DEFB-FD28-2A40-0DED00371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9ADFA-C57D-E1C1-96FF-CCD3BFB7D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GB">
                <a:ea typeface="+mn-lt"/>
                <a:cs typeface="+mn-lt"/>
              </a:rPr>
              <a:t>[1] Hoffman MD, Gelman A. The No-U-Turn Sampler: Adaptively Setting Path Lengths in Hamiltonian Monte Carlo. arXiv:1111.4246 [stat.CO]. 2011 Nov 14 [cited 2026 Feb 3]. Available from: </a:t>
            </a:r>
            <a:r>
              <a:rPr lang="en-GB">
                <a:ea typeface="+mn-lt"/>
                <a:cs typeface="+mn-lt"/>
                <a:hlinkClick r:id="rId2"/>
              </a:rPr>
              <a:t>https://arxiv.org/abs/1111.4246</a:t>
            </a:r>
            <a:endParaRPr lang="en-US">
              <a:ea typeface="+mn-lt"/>
              <a:cs typeface="+mn-lt"/>
            </a:endParaRPr>
          </a:p>
          <a:p>
            <a:endParaRPr lang="en-GB"/>
          </a:p>
          <a:p>
            <a:r>
              <a:rPr lang="en-GB">
                <a:ea typeface="+mn-lt"/>
                <a:cs typeface="+mn-lt"/>
              </a:rPr>
              <a:t>[2] Abril-Pla O, Andreani V, Carroll C, Dong L, Fonnesbeck CJ, </a:t>
            </a:r>
            <a:r>
              <a:rPr lang="en-GB" err="1">
                <a:ea typeface="+mn-lt"/>
                <a:cs typeface="+mn-lt"/>
              </a:rPr>
              <a:t>Kochurov</a:t>
            </a:r>
            <a:r>
              <a:rPr lang="en-GB">
                <a:ea typeface="+mn-lt"/>
                <a:cs typeface="+mn-lt"/>
              </a:rPr>
              <a:t> M, et al. </a:t>
            </a:r>
            <a:r>
              <a:rPr lang="en-GB" err="1">
                <a:ea typeface="+mn-lt"/>
                <a:cs typeface="+mn-lt"/>
              </a:rPr>
              <a:t>PyMC</a:t>
            </a:r>
            <a:r>
              <a:rPr lang="en-GB">
                <a:ea typeface="+mn-lt"/>
                <a:cs typeface="+mn-lt"/>
              </a:rPr>
              <a:t>: a modern, and comprehensive probabilistic programming framework in Python. </a:t>
            </a:r>
            <a:r>
              <a:rPr lang="en-GB" err="1">
                <a:ea typeface="+mn-lt"/>
                <a:cs typeface="+mn-lt"/>
              </a:rPr>
              <a:t>PeerJ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Comput</a:t>
            </a:r>
            <a:r>
              <a:rPr lang="en-GB">
                <a:ea typeface="+mn-lt"/>
                <a:cs typeface="+mn-lt"/>
              </a:rPr>
              <a:t> Sci. 2023 Sep 1;9:e1516. </a:t>
            </a:r>
            <a:r>
              <a:rPr lang="en-GB" err="1">
                <a:ea typeface="+mn-lt"/>
                <a:cs typeface="+mn-lt"/>
              </a:rPr>
              <a:t>doi</a:t>
            </a:r>
            <a:r>
              <a:rPr lang="en-GB">
                <a:ea typeface="+mn-lt"/>
                <a:cs typeface="+mn-lt"/>
              </a:rPr>
              <a:t>: 10.7717/peerj-cs.1516.</a:t>
            </a:r>
          </a:p>
          <a:p>
            <a:endParaRPr lang="en-GB"/>
          </a:p>
          <a:p>
            <a:r>
              <a:rPr lang="en-GB"/>
              <a:t>[3] </a:t>
            </a:r>
            <a:r>
              <a:rPr lang="en-GB">
                <a:ea typeface="+mn-lt"/>
                <a:cs typeface="+mn-lt"/>
              </a:rPr>
              <a:t>Wilson J. Thermal Diffusivity. Electronics Cooling [Internet]. 2007 Aug 1 [cited 2026 Feb 3]. Available from: </a:t>
            </a:r>
            <a:r>
              <a:rPr lang="en-GB">
                <a:ea typeface="+mn-lt"/>
                <a:cs typeface="+mn-lt"/>
                <a:hlinkClick r:id="rId3"/>
              </a:rPr>
              <a:t>https://www.electronics-cooling.com/2007/08/thermal-diffusivity/</a:t>
            </a:r>
          </a:p>
          <a:p>
            <a:endParaRPr lang="en-GB"/>
          </a:p>
          <a:p>
            <a:r>
              <a:rPr lang="en-GB"/>
              <a:t>[4] </a:t>
            </a:r>
            <a:r>
              <a:rPr lang="en-GB">
                <a:ea typeface="+mn-lt"/>
                <a:cs typeface="+mn-lt"/>
              </a:rPr>
              <a:t>Cramér H. Mathematical methods of statistics. Princeton (NJ): Princeton University Press; 1946.</a:t>
            </a:r>
          </a:p>
          <a:p>
            <a:endParaRPr lang="en-GB">
              <a:ea typeface="+mn-lt"/>
              <a:cs typeface="+mn-lt"/>
            </a:endParaRPr>
          </a:p>
          <a:p>
            <a:r>
              <a:rPr lang="en-GB">
                <a:ea typeface="+mn-lt"/>
                <a:cs typeface="+mn-lt"/>
              </a:rPr>
              <a:t>[5] Freedman D, Pisani R, Purves R. Statistics. 4th ed. New York (NY): W.W. Norton &amp; Company; 2007.</a:t>
            </a:r>
          </a:p>
          <a:p>
            <a:endParaRPr lang="en-GB">
              <a:ea typeface="+mn-lt"/>
              <a:cs typeface="+mn-lt"/>
            </a:endParaRPr>
          </a:p>
          <a:p>
            <a:r>
              <a:rPr lang="en-GB">
                <a:ea typeface="+mn-lt"/>
                <a:cs typeface="+mn-lt"/>
              </a:rPr>
              <a:t>[6] Hogg RV, McKean JW, Craig AT. Introduction to mathematical statistics. 7th ed. Boston (MA): Pearson; 2013.</a:t>
            </a:r>
          </a:p>
          <a:p>
            <a:endParaRPr lang="en-GB">
              <a:ea typeface="+mn-lt"/>
              <a:cs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38EAB-C6B1-8E70-171A-B403C5A77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88542-24E7-0A4C-8E01-F551E85C52FD}" type="datetime1">
              <a:rPr lang="en-US" smtClean="0"/>
              <a:t>2/3/26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A7E0-8A4F-B914-4662-AA59F4118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Characterizing Diffusivity Through Linear Losses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92E5C-0BCE-E997-19D0-BC9F6DC71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23574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CL PPT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Sans font theme">
      <a:majorFont>
        <a:latin typeface="Imperial Sans Text Semibold"/>
        <a:ea typeface=""/>
        <a:cs typeface=""/>
      </a:majorFont>
      <a:minorFont>
        <a:latin typeface="Imperial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5000"/>
          </a:lnSpc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ICL_PowerPoint 4_3 template.potx" id="{42CC6D79-1358-4FEB-B491-3F229C02E1C6}" vid="{6DDEDD2A-AE2D-4047-BB10-13C299281D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ICL PPT Theme</Template>
  <TotalTime>13430</TotalTime>
  <Words>1121</Words>
  <Application>Microsoft Macintosh PowerPoint</Application>
  <PresentationFormat>On-screen Show (4:3)</PresentationFormat>
  <Paragraphs>117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Imperial Sans Text Semibold</vt:lpstr>
      <vt:lpstr>Imperial Sans Text</vt:lpstr>
      <vt:lpstr>Arial</vt:lpstr>
      <vt:lpstr>Imperial Sans Text Medium</vt:lpstr>
      <vt:lpstr>Calibri</vt:lpstr>
      <vt:lpstr>Wingdings</vt:lpstr>
      <vt:lpstr>ICL PPT Theme</vt:lpstr>
      <vt:lpstr>On The Bayesian Characterization of Diffusivity Through Linear Heat Losses</vt:lpstr>
      <vt:lpstr>Introduction and Aims</vt:lpstr>
      <vt:lpstr>Experimental Methods</vt:lpstr>
      <vt:lpstr>Heat Losses</vt:lpstr>
      <vt:lpstr>Candidate Models</vt:lpstr>
      <vt:lpstr>Processing and the Hierarchy</vt:lpstr>
      <vt:lpstr>Results and Discussion </vt:lpstr>
      <vt:lpstr>Validating an Isolated System</vt:lpstr>
      <vt:lpstr>Results and Discussion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 Pincha</dc:creator>
  <cp:lastModifiedBy>Yash Pincha</cp:lastModifiedBy>
  <cp:revision>6</cp:revision>
  <cp:lastPrinted>2026-02-03T06:47:42Z</cp:lastPrinted>
  <dcterms:created xsi:type="dcterms:W3CDTF">2026-02-02T22:43:34Z</dcterms:created>
  <dcterms:modified xsi:type="dcterms:W3CDTF">2026-02-12T23:01:59Z</dcterms:modified>
</cp:coreProperties>
</file>